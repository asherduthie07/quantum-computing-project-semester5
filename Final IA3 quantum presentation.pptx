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and say: Our goal is not simply to print a key. We mathematically derive a hidden XOR-period problem, construct a reversible quantum oracle, measure the circuit, solve equations and validate the recovered keys. This condensed deck leads directly into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original question in brief. Highlight that the teacher specifically demands theory versus simulated output, not just source code. Explain that comparing algorithms and showing the mathematical steps are part of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Even–Mansour construction from left to right. XOR is bitwise addition modulo two. We know the public permutation P, but not the keys; the target is k1. The derived function f is accessible through the encryption and public permutation oracles.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truth-table row: for x=001, x XOR 101=100, P(100)=100, E(001)=111, f(001)=111 XOR 010 = 101. Show other rows and emphasize the four pairs have distinct f outputs. The test keys are known only to the oracle-construction part of the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 f(x XOR k1)=f(x) using k1 XOR k1=0 and commutativity of XOR. Point to the four pairs. Clarify that periodicity alone is not enough for Simon’s exact promise; different pairs must also have different output values. For n=2 every permutation is affine and f is constant, which motivates n=3.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x register, output register z, and classical result bits. First H gives a superposition, the quantum oracle computes E(x) XOR P(x) reversibly, second H causes interference, and input measurement yields an equation orthogonal to k1. This is a conceptual circuit diagram from our validated report; generated Qiskit circuit image can be opened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four legal measurements, each theoretically 25%. Two independent nonzero equations suffice for a 3-bit period. Define k1 components as left, middle, right, to avoid confusing the key name k1 with bit index. One equation fixes the middle bit to zero, another requires outer bits equal; nonzero promise selects 101. Compute k2 using a known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query complexity refers to number of oracle evaluations as n grows. Under the exact Simon promise, Simon uses O(n) quantum queries; classical birthday search uses O(2^(n/2)) queries. Grover has similar square-root search if verification oracle can be built. BV and DJ have different promises, while Shor targets integer/order periods. There are adaptations of BV to cipher analysis, but ordinary BV does not solve this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plot only as illustrative asymptotic growth. Simon is asymptotically optimal in quantum query complexity for the exact Simon problem; this does not imply fastest wall-clock time or that arbitrary Even–Mansour permutations give a unique period. The circuit synthesis cost and hardware noise matter for practicality.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main Qiskit code constructs E and P as reversible bitwise-XOR lookup operations. We apply H to the three input qubits, oracle E then P to the six-qubit register, then H on the inputs, and measure. Independently, a custom NumPy statevector simulator was executed for the report; do not label those measurements as Qiskit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that the plotted measured baseline is from the NumPy statevector simulation we actually executed, not a Qiskit screenshot. Each valid outcome has theoretical expectation 256 of 1024; sampling fluctuation produces counts 261, 242, 265, 256. No invalid output was measured. The statevector process and key reconstruction matched theoretical predictions. During the live demo, Qiskit will generate a new histogram that is expected to have similar but not identical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2-bit version is degenerate; for larger random permutations the f function has a guaranteed period but may have extra collisions. Simulators are ideal and hide hardware noise. This is not evidence of breaking a production cipher. Real quantum cryptanalytic threats depend on oracle access and coherent circuit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exactly what we proved and measured. Prepare for questions: Why 3 bits? Because n=2 gives constant f. Why Simon? Because the function has an XOR period. How do you get k2? E(0) XOR P(k1). Is the 3-bit program faster? No meaningful wall-clock speedup is shown; advantage is asymptotic query complexity. Do real hardware results match perfectly? Noise and coherence constraints make that a separate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8142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prstGeom>
          <a:solidFill>
            <a:srgbClr val="21D6C4"/>
          </a:solidFill>
          <a:ln w="12700">
            <a:solidFill>
              <a:srgbClr val="21D6C4"/>
            </a:solidFill>
            <a:prstDash val="solid"/>
          </a:ln>
        </p:spPr>
      </p:sp>
      <p:sp>
        <p:nvSpPr>
          <p:cNvPr id="3" name="Text 1"/>
          <p:cNvSpPr/>
          <p:nvPr/>
        </p:nvSpPr>
        <p:spPr>
          <a:xfrm>
            <a:off x="576072" y="521208"/>
            <a:ext cx="10058400" cy="292608"/>
          </a:xfrm>
          <a:prstGeom prst="rect">
            <a:avLst/>
          </a:prstGeom>
          <a:noFill/>
        </p:spPr>
        <p:txBody>
          <a:bodyPr wrap="square" lIns="0" tIns="0" rIns="0" bIns="0" rtlCol="0" anchor="ctr">
            <a:normAutofit/>
          </a:bodyPr>
          <a:lstStyle/>
          <a:p>
            <a:pPr marL="0" indent="0">
              <a:buNone/>
            </a:pPr>
            <a:r>
              <a:rPr lang="en-US" sz="1300" b="1" kern="0" spc="110" dirty="0">
                <a:solidFill>
                  <a:srgbClr val="21D6C4"/>
                </a:solidFill>
                <a:latin typeface="Aptos" pitchFamily="34" charset="0"/>
                <a:ea typeface="Aptos" pitchFamily="34" charset="-122"/>
                <a:cs typeface="Aptos" pitchFamily="34" charset="-120"/>
              </a:rPr>
              <a:t>INTERNAL ASSESSMENT III  •  QUANTUM COMPUTING</a:t>
            </a:r>
            <a:endParaRPr lang="en-US" sz="1300" dirty="0"/>
          </a:p>
        </p:txBody>
      </p:sp>
      <p:sp>
        <p:nvSpPr>
          <p:cNvPr id="4" name="Text 2"/>
          <p:cNvSpPr/>
          <p:nvPr/>
        </p:nvSpPr>
        <p:spPr>
          <a:xfrm>
            <a:off x="576072" y="1225296"/>
            <a:ext cx="8961120" cy="1965960"/>
          </a:xfrm>
          <a:prstGeom prst="rect">
            <a:avLst/>
          </a:prstGeom>
          <a:noFill/>
        </p:spPr>
        <p:txBody>
          <a:bodyPr wrap="square" lIns="0" tIns="0" rIns="0" bIns="0" rtlCol="0" anchor="t">
            <a:normAutofit/>
          </a:bodyPr>
          <a:lstStyle/>
          <a:p>
            <a:pPr marL="0" indent="0">
              <a:buNone/>
            </a:pPr>
            <a:r>
              <a:rPr lang="en-US" sz="5300" b="1" dirty="0">
                <a:solidFill>
                  <a:srgbClr val="F4F9FF"/>
                </a:solidFill>
                <a:latin typeface="Aptos" pitchFamily="34" charset="0"/>
                <a:ea typeface="Aptos" pitchFamily="34" charset="-122"/>
                <a:cs typeface="Aptos" pitchFamily="34" charset="-120"/>
              </a:rPr>
              <a:t>QUANTUM KEY</a:t>
            </a:r>
            <a:endParaRPr lang="en-US" sz="5300" dirty="0"/>
          </a:p>
          <a:p>
            <a:pPr marL="0" indent="0">
              <a:buNone/>
            </a:pPr>
            <a:r>
              <a:rPr lang="en-US" sz="5300" b="1" dirty="0">
                <a:solidFill>
                  <a:srgbClr val="F4F9FF"/>
                </a:solidFill>
                <a:latin typeface="Aptos" pitchFamily="34" charset="0"/>
                <a:ea typeface="Aptos" pitchFamily="34" charset="-122"/>
                <a:cs typeface="Aptos" pitchFamily="34" charset="-120"/>
              </a:rPr>
              <a:t>RECOVERY</a:t>
            </a:r>
            <a:endParaRPr lang="en-US" sz="5300" dirty="0"/>
          </a:p>
        </p:txBody>
      </p:sp>
      <p:sp>
        <p:nvSpPr>
          <p:cNvPr id="5" name="Text 3"/>
          <p:cNvSpPr/>
          <p:nvPr/>
        </p:nvSpPr>
        <p:spPr>
          <a:xfrm>
            <a:off x="612648" y="3355848"/>
            <a:ext cx="9509760" cy="521208"/>
          </a:xfrm>
          <a:prstGeom prst="rect">
            <a:avLst/>
          </a:prstGeom>
          <a:noFill/>
        </p:spPr>
        <p:txBody>
          <a:bodyPr wrap="square" lIns="0" tIns="0" rIns="0" bIns="0" rtlCol="0" anchor="ctr">
            <a:normAutofit/>
          </a:bodyPr>
          <a:lstStyle/>
          <a:p>
            <a:pPr marL="0" indent="0">
              <a:buNone/>
            </a:pPr>
            <a:r>
              <a:rPr lang="en-US" sz="2500" b="1" dirty="0">
                <a:solidFill>
                  <a:srgbClr val="49BCFF"/>
                </a:solidFill>
                <a:latin typeface="Aptos" pitchFamily="34" charset="0"/>
                <a:ea typeface="Aptos" pitchFamily="34" charset="-122"/>
                <a:cs typeface="Aptos" pitchFamily="34" charset="-120"/>
              </a:rPr>
              <a:t>Toy Even–Mansour Cipher × Simon’s Algorithm</a:t>
            </a:r>
            <a:endParaRPr lang="en-US" sz="2500" dirty="0"/>
          </a:p>
        </p:txBody>
      </p:sp>
      <p:sp>
        <p:nvSpPr>
          <p:cNvPr id="6" name="Text 4"/>
          <p:cNvSpPr/>
          <p:nvPr/>
        </p:nvSpPr>
        <p:spPr>
          <a:xfrm>
            <a:off x="612648" y="4050792"/>
            <a:ext cx="9601200" cy="841248"/>
          </a:xfrm>
          <a:prstGeom prst="rect">
            <a:avLst/>
          </a:prstGeom>
          <a:noFill/>
        </p:spPr>
        <p:txBody>
          <a:bodyPr wrap="square" lIns="0" tIns="0" rIns="0" bIns="0" rtlCol="0" anchor="ctr">
            <a:normAutofit/>
          </a:bodyPr>
          <a:lstStyle/>
          <a:p>
            <a:pPr marL="0" indent="0">
              <a:buNone/>
            </a:pPr>
            <a:r>
              <a:rPr lang="en-US" sz="2000" dirty="0">
                <a:solidFill>
                  <a:srgbClr val="AAC1D7"/>
                </a:solidFill>
                <a:latin typeface="Aptos" pitchFamily="34" charset="0"/>
                <a:ea typeface="Aptos" pitchFamily="34" charset="-122"/>
                <a:cs typeface="Aptos" pitchFamily="34" charset="-120"/>
              </a:rPr>
              <a:t>From a hidden XOR period to the secret key — proven mathematically and checked with quantum simulation.</a:t>
            </a:r>
            <a:endParaRPr lang="en-US" sz="2000" dirty="0"/>
          </a:p>
        </p:txBody>
      </p:sp>
      <p:sp>
        <p:nvSpPr>
          <p:cNvPr id="7" name="Shape 5"/>
          <p:cNvSpPr/>
          <p:nvPr/>
        </p:nvSpPr>
        <p:spPr>
          <a:xfrm>
            <a:off x="612648" y="5184648"/>
            <a:ext cx="1920240" cy="338328"/>
          </a:xfrm>
          <a:prstGeom prst="roundRect">
            <a:avLst>
              <a:gd name="adj" fmla="val 48649"/>
            </a:avLst>
          </a:prstGeom>
          <a:solidFill>
            <a:srgbClr val="152B47"/>
          </a:solidFill>
          <a:ln w="8890">
            <a:solidFill>
              <a:srgbClr val="152B47"/>
            </a:solidFill>
            <a:prstDash val="solid"/>
          </a:ln>
        </p:spPr>
      </p:sp>
      <p:sp>
        <p:nvSpPr>
          <p:cNvPr id="8" name="Text 6"/>
          <p:cNvSpPr/>
          <p:nvPr/>
        </p:nvSpPr>
        <p:spPr>
          <a:xfrm>
            <a:off x="722376" y="5193792"/>
            <a:ext cx="1700784" cy="320040"/>
          </a:xfrm>
          <a:prstGeom prst="rect">
            <a:avLst/>
          </a:prstGeom>
          <a:noFill/>
        </p:spPr>
        <p:txBody>
          <a:bodyPr wrap="square" lIns="0" tIns="0" rIns="0" bIns="0" rtlCol="0" anchor="ctr">
            <a:normAutofit/>
          </a:bodyPr>
          <a:lstStyle/>
          <a:p>
            <a:pPr marL="0" indent="0" algn="ctr">
              <a:buNone/>
            </a:pPr>
            <a:r>
              <a:rPr lang="en-US" sz="1020" b="1" dirty="0">
                <a:solidFill>
                  <a:srgbClr val="21D6C4"/>
                </a:solidFill>
                <a:latin typeface="Aptos" pitchFamily="34" charset="0"/>
                <a:ea typeface="Aptos" pitchFamily="34" charset="-122"/>
                <a:cs typeface="Aptos" pitchFamily="34" charset="-120"/>
              </a:rPr>
              <a:t>3-BIT CIPHER</a:t>
            </a:r>
            <a:endParaRPr lang="en-US" sz="1020" dirty="0"/>
          </a:p>
        </p:txBody>
      </p:sp>
      <p:sp>
        <p:nvSpPr>
          <p:cNvPr id="9" name="Shape 7"/>
          <p:cNvSpPr/>
          <p:nvPr/>
        </p:nvSpPr>
        <p:spPr>
          <a:xfrm>
            <a:off x="2734056" y="5184648"/>
            <a:ext cx="2121408" cy="338328"/>
          </a:xfrm>
          <a:prstGeom prst="roundRect">
            <a:avLst>
              <a:gd name="adj" fmla="val 48649"/>
            </a:avLst>
          </a:prstGeom>
          <a:solidFill>
            <a:srgbClr val="152B47"/>
          </a:solidFill>
          <a:ln w="8890">
            <a:solidFill>
              <a:srgbClr val="152B47"/>
            </a:solidFill>
            <a:prstDash val="solid"/>
          </a:ln>
        </p:spPr>
      </p:sp>
      <p:sp>
        <p:nvSpPr>
          <p:cNvPr id="10" name="Text 8"/>
          <p:cNvSpPr/>
          <p:nvPr/>
        </p:nvSpPr>
        <p:spPr>
          <a:xfrm>
            <a:off x="2843784" y="5193792"/>
            <a:ext cx="1901952" cy="320040"/>
          </a:xfrm>
          <a:prstGeom prst="rect">
            <a:avLst/>
          </a:prstGeom>
          <a:noFill/>
        </p:spPr>
        <p:txBody>
          <a:bodyPr wrap="square" lIns="0" tIns="0" rIns="0" bIns="0" rtlCol="0" anchor="ctr">
            <a:normAutofit/>
          </a:bodyPr>
          <a:lstStyle/>
          <a:p>
            <a:pPr marL="0" indent="0" algn="ctr">
              <a:buNone/>
            </a:pPr>
            <a:r>
              <a:rPr lang="en-US" sz="1020" b="1" dirty="0">
                <a:solidFill>
                  <a:srgbClr val="21D6C4"/>
                </a:solidFill>
                <a:latin typeface="Aptos" pitchFamily="34" charset="0"/>
                <a:ea typeface="Aptos" pitchFamily="34" charset="-122"/>
                <a:cs typeface="Aptos" pitchFamily="34" charset="-120"/>
              </a:rPr>
              <a:t>6-QUBIT ORACLE</a:t>
            </a:r>
            <a:endParaRPr lang="en-US" sz="1020" dirty="0"/>
          </a:p>
        </p:txBody>
      </p:sp>
      <p:sp>
        <p:nvSpPr>
          <p:cNvPr id="11" name="Shape 9"/>
          <p:cNvSpPr/>
          <p:nvPr/>
        </p:nvSpPr>
        <p:spPr>
          <a:xfrm>
            <a:off x="5038344" y="5184648"/>
            <a:ext cx="2404872" cy="338328"/>
          </a:xfrm>
          <a:prstGeom prst="roundRect">
            <a:avLst>
              <a:gd name="adj" fmla="val 48649"/>
            </a:avLst>
          </a:prstGeom>
          <a:solidFill>
            <a:srgbClr val="152B47"/>
          </a:solidFill>
          <a:ln w="8890">
            <a:solidFill>
              <a:srgbClr val="152B47"/>
            </a:solidFill>
            <a:prstDash val="solid"/>
          </a:ln>
        </p:spPr>
      </p:sp>
      <p:sp>
        <p:nvSpPr>
          <p:cNvPr id="12" name="Text 10"/>
          <p:cNvSpPr/>
          <p:nvPr/>
        </p:nvSpPr>
        <p:spPr>
          <a:xfrm>
            <a:off x="5148072" y="5193792"/>
            <a:ext cx="2185416" cy="320040"/>
          </a:xfrm>
          <a:prstGeom prst="rect">
            <a:avLst/>
          </a:prstGeom>
          <a:noFill/>
        </p:spPr>
        <p:txBody>
          <a:bodyPr wrap="square" lIns="0" tIns="0" rIns="0" bIns="0" rtlCol="0" anchor="ctr">
            <a:normAutofit/>
          </a:bodyPr>
          <a:lstStyle/>
          <a:p>
            <a:pPr marL="0" indent="0" algn="ctr">
              <a:buNone/>
            </a:pPr>
            <a:r>
              <a:rPr lang="en-US" sz="1020" b="1" dirty="0">
                <a:solidFill>
                  <a:srgbClr val="21D6C4"/>
                </a:solidFill>
                <a:latin typeface="Aptos" pitchFamily="34" charset="0"/>
                <a:ea typeface="Aptos" pitchFamily="34" charset="-122"/>
                <a:cs typeface="Aptos" pitchFamily="34" charset="-120"/>
              </a:rPr>
              <a:t>LIVE QISKIT DEMO</a:t>
            </a:r>
            <a:endParaRPr lang="en-US" sz="1020" dirty="0"/>
          </a:p>
        </p:txBody>
      </p:sp>
      <p:sp>
        <p:nvSpPr>
          <p:cNvPr id="13" name="Shape 11"/>
          <p:cNvSpPr/>
          <p:nvPr/>
        </p:nvSpPr>
        <p:spPr>
          <a:xfrm>
            <a:off x="9381744" y="1298448"/>
            <a:ext cx="2039112" cy="2286000"/>
          </a:xfrm>
          <a:prstGeom prst="roundRect">
            <a:avLst>
              <a:gd name="adj" fmla="val 8072"/>
            </a:avLst>
          </a:prstGeom>
          <a:solidFill>
            <a:srgbClr val="152B47"/>
          </a:solidFill>
          <a:ln w="8890">
            <a:solidFill>
              <a:srgbClr val="243B56"/>
            </a:solidFill>
            <a:prstDash val="solid"/>
          </a:ln>
        </p:spPr>
      </p:sp>
      <p:sp>
        <p:nvSpPr>
          <p:cNvPr id="14" name="Text 12"/>
          <p:cNvSpPr/>
          <p:nvPr/>
        </p:nvSpPr>
        <p:spPr>
          <a:xfrm>
            <a:off x="9646920" y="1581912"/>
            <a:ext cx="457200" cy="548640"/>
          </a:xfrm>
          <a:prstGeom prst="rect">
            <a:avLst/>
          </a:prstGeom>
          <a:noFill/>
        </p:spPr>
        <p:txBody>
          <a:bodyPr wrap="square" lIns="0" tIns="0" rIns="0" bIns="0" rtlCol="0" anchor="ctr">
            <a:normAutofit/>
          </a:bodyPr>
          <a:lstStyle/>
          <a:p>
            <a:pPr marL="0" indent="0" algn="ctr">
              <a:buNone/>
            </a:pPr>
            <a:r>
              <a:rPr lang="en-US" sz="3200" b="1" dirty="0">
                <a:solidFill>
                  <a:srgbClr val="21D6C4"/>
                </a:solidFill>
                <a:latin typeface="Aptos" pitchFamily="34" charset="0"/>
                <a:ea typeface="Aptos" pitchFamily="34" charset="-122"/>
                <a:cs typeface="Aptos" pitchFamily="34" charset="-120"/>
              </a:rPr>
              <a:t>H</a:t>
            </a:r>
            <a:endParaRPr lang="en-US" sz="3200" dirty="0"/>
          </a:p>
        </p:txBody>
      </p:sp>
      <p:sp>
        <p:nvSpPr>
          <p:cNvPr id="15" name="Text 13"/>
          <p:cNvSpPr/>
          <p:nvPr/>
        </p:nvSpPr>
        <p:spPr>
          <a:xfrm>
            <a:off x="10067544" y="1581912"/>
            <a:ext cx="365760" cy="548640"/>
          </a:xfrm>
          <a:prstGeom prst="rect">
            <a:avLst/>
          </a:prstGeom>
          <a:noFill/>
        </p:spPr>
        <p:txBody>
          <a:bodyPr wrap="square" lIns="0" tIns="0" rIns="0" bIns="0" rtlCol="0" anchor="ctr">
            <a:normAutofit/>
          </a:bodyPr>
          <a:lstStyle/>
          <a:p>
            <a:pPr marL="0" indent="0" algn="ctr">
              <a:buNone/>
            </a:pPr>
            <a:r>
              <a:rPr lang="en-US" sz="2800" dirty="0">
                <a:solidFill>
                  <a:srgbClr val="AAC1D7"/>
                </a:solidFill>
                <a:latin typeface="Aptos" pitchFamily="34" charset="0"/>
                <a:ea typeface="Aptos" pitchFamily="34" charset="-122"/>
                <a:cs typeface="Aptos" pitchFamily="34" charset="-120"/>
              </a:rPr>
              <a:t>→</a:t>
            </a:r>
            <a:endParaRPr lang="en-US" sz="2800" dirty="0"/>
          </a:p>
        </p:txBody>
      </p:sp>
      <p:sp>
        <p:nvSpPr>
          <p:cNvPr id="16" name="Text 14"/>
          <p:cNvSpPr/>
          <p:nvPr/>
        </p:nvSpPr>
        <p:spPr>
          <a:xfrm>
            <a:off x="10442448" y="1581912"/>
            <a:ext cx="548640" cy="548640"/>
          </a:xfrm>
          <a:prstGeom prst="rect">
            <a:avLst/>
          </a:prstGeom>
          <a:noFill/>
        </p:spPr>
        <p:txBody>
          <a:bodyPr wrap="square" lIns="0" tIns="0" rIns="0" bIns="0" rtlCol="0" anchor="ctr">
            <a:normAutofit/>
          </a:bodyPr>
          <a:lstStyle/>
          <a:p>
            <a:pPr marL="0" indent="0" algn="ctr">
              <a:buNone/>
            </a:pPr>
            <a:r>
              <a:rPr lang="en-US" sz="2700" b="1" dirty="0">
                <a:solidFill>
                  <a:srgbClr val="49BCFF"/>
                </a:solidFill>
                <a:latin typeface="Aptos" pitchFamily="34" charset="0"/>
                <a:ea typeface="Aptos" pitchFamily="34" charset="-122"/>
                <a:cs typeface="Aptos" pitchFamily="34" charset="-120"/>
              </a:rPr>
              <a:t>Uƒ</a:t>
            </a:r>
            <a:endParaRPr lang="en-US" sz="2700" dirty="0"/>
          </a:p>
        </p:txBody>
      </p:sp>
      <p:sp>
        <p:nvSpPr>
          <p:cNvPr id="17" name="Text 15"/>
          <p:cNvSpPr/>
          <p:nvPr/>
        </p:nvSpPr>
        <p:spPr>
          <a:xfrm>
            <a:off x="9738360" y="2340864"/>
            <a:ext cx="1316736" cy="457200"/>
          </a:xfrm>
          <a:prstGeom prst="rect">
            <a:avLst/>
          </a:prstGeom>
          <a:noFill/>
        </p:spPr>
        <p:txBody>
          <a:bodyPr wrap="square" lIns="0" tIns="0" rIns="0" bIns="0" rtlCol="0" anchor="ctr">
            <a:normAutofit/>
          </a:bodyPr>
          <a:lstStyle/>
          <a:p>
            <a:pPr marL="0" indent="0" algn="ctr">
              <a:buNone/>
            </a:pPr>
            <a:r>
              <a:rPr lang="en-US" sz="2600" b="1" dirty="0">
                <a:solidFill>
                  <a:srgbClr val="B09BFF"/>
                </a:solidFill>
                <a:latin typeface="Aptos" pitchFamily="34" charset="0"/>
                <a:ea typeface="Aptos" pitchFamily="34" charset="-122"/>
                <a:cs typeface="Aptos" pitchFamily="34" charset="-120"/>
              </a:rPr>
              <a:t>→ H</a:t>
            </a:r>
            <a:endParaRPr lang="en-US" sz="2600" dirty="0"/>
          </a:p>
        </p:txBody>
      </p:sp>
      <p:sp>
        <p:nvSpPr>
          <p:cNvPr id="18" name="Text 16"/>
          <p:cNvSpPr/>
          <p:nvPr/>
        </p:nvSpPr>
        <p:spPr>
          <a:xfrm>
            <a:off x="9720072" y="2907792"/>
            <a:ext cx="1399032" cy="274320"/>
          </a:xfrm>
          <a:prstGeom prst="rect">
            <a:avLst/>
          </a:prstGeom>
          <a:noFill/>
        </p:spPr>
        <p:txBody>
          <a:bodyPr wrap="square" lIns="0" tIns="0" rIns="0" bIns="0" rtlCol="0" anchor="ctr">
            <a:normAutofit/>
          </a:bodyPr>
          <a:lstStyle/>
          <a:p>
            <a:pPr marL="0" indent="0" algn="ctr">
              <a:buNone/>
            </a:pPr>
            <a:r>
              <a:rPr lang="en-US" sz="1200" b="1" dirty="0">
                <a:solidFill>
                  <a:srgbClr val="AAC1D7"/>
                </a:solidFill>
                <a:latin typeface="Aptos" pitchFamily="34" charset="0"/>
                <a:ea typeface="Aptos" pitchFamily="34" charset="-122"/>
                <a:cs typeface="Aptos" pitchFamily="34" charset="-120"/>
              </a:rPr>
              <a:t>MEASURE</a:t>
            </a:r>
            <a:endParaRPr lang="en-US" sz="1200" dirty="0"/>
          </a:p>
        </p:txBody>
      </p:sp>
      <p:sp>
        <p:nvSpPr>
          <p:cNvPr id="19" name="Text 17"/>
          <p:cNvSpPr/>
          <p:nvPr/>
        </p:nvSpPr>
        <p:spPr>
          <a:xfrm>
            <a:off x="640080" y="6382512"/>
            <a:ext cx="10058400" cy="192024"/>
          </a:xfrm>
          <a:prstGeom prst="rect">
            <a:avLst/>
          </a:prstGeom>
          <a:noFill/>
        </p:spPr>
        <p:txBody>
          <a:bodyPr wrap="square" lIns="0" tIns="0" rIns="0" bIns="0" rtlCol="0" anchor="ctr">
            <a:normAutofit/>
          </a:bodyPr>
          <a:lstStyle/>
          <a:p>
            <a:pPr marL="0" indent="0">
              <a:buNone/>
            </a:pPr>
            <a:r>
              <a:rPr lang="en-US" sz="1100" dirty="0">
                <a:solidFill>
                  <a:srgbClr val="819BB3"/>
                </a:solidFill>
                <a:latin typeface="Aptos" pitchFamily="34" charset="0"/>
                <a:ea typeface="Aptos" pitchFamily="34" charset="-122"/>
                <a:cs typeface="Aptos" pitchFamily="34" charset="-120"/>
              </a:rPr>
              <a:t>23CS2037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02</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THE ASSIGNMENT</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What exactly is the given task?</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Start from the given question and the additional simulation requirement.</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02</a:t>
            </a:r>
            <a:endParaRPr lang="en-US" sz="900" dirty="0"/>
          </a:p>
        </p:txBody>
      </p:sp>
      <p:sp>
        <p:nvSpPr>
          <p:cNvPr id="11" name="Shape 9"/>
          <p:cNvSpPr/>
          <p:nvPr/>
        </p:nvSpPr>
        <p:spPr>
          <a:xfrm>
            <a:off x="457200" y="2084832"/>
            <a:ext cx="11228832" cy="1956816"/>
          </a:xfrm>
          <a:prstGeom prst="roundRect">
            <a:avLst>
              <a:gd name="adj" fmla="val 8411"/>
            </a:avLst>
          </a:prstGeom>
          <a:solidFill>
            <a:srgbClr val="152B47"/>
          </a:solidFill>
          <a:ln w="8890">
            <a:solidFill>
              <a:srgbClr val="243B56"/>
            </a:solidFill>
            <a:prstDash val="solid"/>
          </a:ln>
        </p:spPr>
      </p:sp>
      <p:sp>
        <p:nvSpPr>
          <p:cNvPr id="12" name="Text 10"/>
          <p:cNvSpPr/>
          <p:nvPr/>
        </p:nvSpPr>
        <p:spPr>
          <a:xfrm>
            <a:off x="804672" y="2386584"/>
            <a:ext cx="10506456" cy="1243584"/>
          </a:xfrm>
          <a:prstGeom prst="rect">
            <a:avLst/>
          </a:prstGeom>
          <a:noFill/>
        </p:spPr>
        <p:txBody>
          <a:bodyPr wrap="square" lIns="0" tIns="0" rIns="0" bIns="0" rtlCol="0" anchor="ctr">
            <a:normAutofit/>
          </a:bodyPr>
          <a:lstStyle/>
          <a:p>
            <a:pPr marL="0" indent="0">
              <a:buNone/>
            </a:pPr>
            <a:r>
              <a:rPr lang="en-US" sz="2100" b="1" dirty="0">
                <a:solidFill>
                  <a:srgbClr val="F4F9FF"/>
                </a:solidFill>
                <a:latin typeface="Aptos" pitchFamily="34" charset="0"/>
                <a:ea typeface="Aptos" pitchFamily="34" charset="-122"/>
                <a:cs typeface="Aptos" pitchFamily="34" charset="-120"/>
              </a:rPr>
              <a:t>“Toy Even–Mansour key recovery: Given E(x) = P(x ⊕ k₁) ⊕ k₂, the function f(x) = E(x) ⊕ P(x) is periodic with period k₁. Implement it for 2–3 bits and recover k₁ from the measured equations. Use Simon’s Algorithm.”</a:t>
            </a:r>
            <a:endParaRPr lang="en-US" sz="2100" dirty="0"/>
          </a:p>
        </p:txBody>
      </p:sp>
      <p:sp>
        <p:nvSpPr>
          <p:cNvPr id="13" name="Shape 11"/>
          <p:cNvSpPr/>
          <p:nvPr/>
        </p:nvSpPr>
        <p:spPr>
          <a:xfrm>
            <a:off x="475488" y="4270248"/>
            <a:ext cx="5440680" cy="1161288"/>
          </a:xfrm>
          <a:prstGeom prst="roundRect">
            <a:avLst>
              <a:gd name="adj" fmla="val 14173"/>
            </a:avLst>
          </a:prstGeom>
          <a:solidFill>
            <a:srgbClr val="10233C"/>
          </a:solidFill>
          <a:ln w="8890">
            <a:solidFill>
              <a:srgbClr val="243B56"/>
            </a:solidFill>
            <a:prstDash val="solid"/>
          </a:ln>
        </p:spPr>
      </p:sp>
      <p:sp>
        <p:nvSpPr>
          <p:cNvPr id="14" name="Shape 12"/>
          <p:cNvSpPr/>
          <p:nvPr/>
        </p:nvSpPr>
        <p:spPr>
          <a:xfrm>
            <a:off x="621792" y="4453128"/>
            <a:ext cx="36576" cy="795528"/>
          </a:xfrm>
          <a:prstGeom prst="rect">
            <a:avLst/>
          </a:prstGeom>
          <a:solidFill>
            <a:srgbClr val="B09BFF"/>
          </a:solidFill>
          <a:ln w="12700">
            <a:solidFill>
              <a:srgbClr val="B09BFF"/>
            </a:solidFill>
            <a:prstDash val="solid"/>
          </a:ln>
        </p:spPr>
      </p:sp>
      <p:sp>
        <p:nvSpPr>
          <p:cNvPr id="15" name="Text 13"/>
          <p:cNvSpPr/>
          <p:nvPr/>
        </p:nvSpPr>
        <p:spPr>
          <a:xfrm>
            <a:off x="804672" y="4471416"/>
            <a:ext cx="4928616" cy="347472"/>
          </a:xfrm>
          <a:prstGeom prst="rect">
            <a:avLst/>
          </a:prstGeom>
          <a:noFill/>
        </p:spPr>
        <p:txBody>
          <a:bodyPr wrap="square" lIns="0" tIns="0" rIns="0" bIns="0" rtlCol="0" anchor="ctr">
            <a:normAutofit/>
          </a:bodyPr>
          <a:lstStyle/>
          <a:p>
            <a:pPr marL="0" indent="0">
              <a:buNone/>
            </a:pPr>
            <a:r>
              <a:rPr lang="en-US" sz="1600" b="1" dirty="0">
                <a:solidFill>
                  <a:srgbClr val="F4F9FF"/>
                </a:solidFill>
                <a:latin typeface="Aptos" pitchFamily="34" charset="0"/>
                <a:ea typeface="Aptos" pitchFamily="34" charset="-122"/>
                <a:cs typeface="Aptos" pitchFamily="34" charset="-120"/>
              </a:rPr>
              <a:t>Report &amp; comparison</a:t>
            </a:r>
            <a:endParaRPr lang="en-US" sz="1600" dirty="0"/>
          </a:p>
        </p:txBody>
      </p:sp>
      <p:sp>
        <p:nvSpPr>
          <p:cNvPr id="16" name="Text 14"/>
          <p:cNvSpPr/>
          <p:nvPr/>
        </p:nvSpPr>
        <p:spPr>
          <a:xfrm>
            <a:off x="804672" y="4864608"/>
            <a:ext cx="4901184" cy="438912"/>
          </a:xfrm>
          <a:prstGeom prst="rect">
            <a:avLst/>
          </a:prstGeom>
          <a:noFill/>
        </p:spPr>
        <p:txBody>
          <a:bodyPr wrap="square" lIns="0" tIns="0" rIns="0" bIns="0" rtlCol="0" anchor="t">
            <a:normAutofit/>
          </a:bodyPr>
          <a:lstStyle/>
          <a:p>
            <a:pPr marL="0" indent="0">
              <a:buNone/>
            </a:pPr>
            <a:r>
              <a:rPr lang="en-US" sz="1300" dirty="0">
                <a:solidFill>
                  <a:srgbClr val="AAC1D7"/>
                </a:solidFill>
                <a:latin typeface="Aptos" pitchFamily="34" charset="0"/>
                <a:ea typeface="Aptos" pitchFamily="34" charset="-122"/>
                <a:cs typeface="Aptos" pitchFamily="34" charset="-120"/>
              </a:rPr>
              <a:t>Explain other algorithms and why Simon fits best.</a:t>
            </a:r>
            <a:endParaRPr lang="en-US" sz="1300" dirty="0"/>
          </a:p>
        </p:txBody>
      </p:sp>
      <p:sp>
        <p:nvSpPr>
          <p:cNvPr id="17" name="Shape 15"/>
          <p:cNvSpPr/>
          <p:nvPr/>
        </p:nvSpPr>
        <p:spPr>
          <a:xfrm>
            <a:off x="6126480" y="4270248"/>
            <a:ext cx="5532120" cy="1161288"/>
          </a:xfrm>
          <a:prstGeom prst="roundRect">
            <a:avLst>
              <a:gd name="adj" fmla="val 14173"/>
            </a:avLst>
          </a:prstGeom>
          <a:solidFill>
            <a:srgbClr val="10233C"/>
          </a:solidFill>
          <a:ln w="8890">
            <a:solidFill>
              <a:srgbClr val="243B56"/>
            </a:solidFill>
            <a:prstDash val="solid"/>
          </a:ln>
        </p:spPr>
      </p:sp>
      <p:sp>
        <p:nvSpPr>
          <p:cNvPr id="18" name="Shape 16"/>
          <p:cNvSpPr/>
          <p:nvPr/>
        </p:nvSpPr>
        <p:spPr>
          <a:xfrm>
            <a:off x="6272784" y="4453128"/>
            <a:ext cx="36576" cy="795528"/>
          </a:xfrm>
          <a:prstGeom prst="rect">
            <a:avLst/>
          </a:prstGeom>
          <a:solidFill>
            <a:srgbClr val="60E5A5"/>
          </a:solidFill>
          <a:ln w="12700">
            <a:solidFill>
              <a:srgbClr val="60E5A5"/>
            </a:solidFill>
            <a:prstDash val="solid"/>
          </a:ln>
        </p:spPr>
      </p:sp>
      <p:sp>
        <p:nvSpPr>
          <p:cNvPr id="19" name="Text 17"/>
          <p:cNvSpPr/>
          <p:nvPr/>
        </p:nvSpPr>
        <p:spPr>
          <a:xfrm>
            <a:off x="6455664" y="4471416"/>
            <a:ext cx="5020056" cy="347472"/>
          </a:xfrm>
          <a:prstGeom prst="rect">
            <a:avLst/>
          </a:prstGeom>
          <a:noFill/>
        </p:spPr>
        <p:txBody>
          <a:bodyPr wrap="square" lIns="0" tIns="0" rIns="0" bIns="0" rtlCol="0" anchor="ctr">
            <a:normAutofit/>
          </a:bodyPr>
          <a:lstStyle/>
          <a:p>
            <a:pPr marL="0" indent="0">
              <a:buNone/>
            </a:pPr>
            <a:r>
              <a:rPr lang="en-US" sz="1600" b="1" dirty="0">
                <a:solidFill>
                  <a:srgbClr val="F4F9FF"/>
                </a:solidFill>
                <a:latin typeface="Aptos" pitchFamily="34" charset="0"/>
                <a:ea typeface="Aptos" pitchFamily="34" charset="-122"/>
                <a:cs typeface="Aptos" pitchFamily="34" charset="-120"/>
              </a:rPr>
              <a:t>Simulation &amp; validation</a:t>
            </a:r>
            <a:endParaRPr lang="en-US" sz="1600" dirty="0"/>
          </a:p>
        </p:txBody>
      </p:sp>
      <p:sp>
        <p:nvSpPr>
          <p:cNvPr id="20" name="Text 18"/>
          <p:cNvSpPr/>
          <p:nvPr/>
        </p:nvSpPr>
        <p:spPr>
          <a:xfrm>
            <a:off x="6455664" y="4864608"/>
            <a:ext cx="4992624" cy="438912"/>
          </a:xfrm>
          <a:prstGeom prst="rect">
            <a:avLst/>
          </a:prstGeom>
          <a:noFill/>
        </p:spPr>
        <p:txBody>
          <a:bodyPr wrap="square" lIns="0" tIns="0" rIns="0" bIns="0" rtlCol="0" anchor="t">
            <a:normAutofit/>
          </a:bodyPr>
          <a:lstStyle/>
          <a:p>
            <a:pPr marL="0" indent="0">
              <a:buNone/>
            </a:pPr>
            <a:r>
              <a:rPr lang="en-US" sz="1260" dirty="0">
                <a:solidFill>
                  <a:srgbClr val="AAC1D7"/>
                </a:solidFill>
                <a:latin typeface="Aptos" pitchFamily="34" charset="0"/>
                <a:ea typeface="Aptos" pitchFamily="34" charset="-122"/>
                <a:cs typeface="Aptos" pitchFamily="34" charset="-120"/>
              </a:rPr>
              <a:t>Implement in a quantum simulator; compare theory with actual measurements.</a:t>
            </a:r>
            <a:endParaRPr lang="en-US" sz="1260" dirty="0"/>
          </a:p>
        </p:txBody>
      </p:sp>
      <p:sp>
        <p:nvSpPr>
          <p:cNvPr id="21" name="Shape 19"/>
          <p:cNvSpPr/>
          <p:nvPr/>
        </p:nvSpPr>
        <p:spPr>
          <a:xfrm>
            <a:off x="438912" y="6044184"/>
            <a:ext cx="11283696" cy="347472"/>
          </a:xfrm>
          <a:prstGeom prst="roundRect">
            <a:avLst>
              <a:gd name="adj" fmla="val 47368"/>
            </a:avLst>
          </a:prstGeom>
          <a:solidFill>
            <a:srgbClr val="152B47"/>
          </a:solidFill>
          <a:ln w="8890">
            <a:solidFill>
              <a:srgbClr val="152B47"/>
            </a:solidFill>
            <a:prstDash val="solid"/>
          </a:ln>
        </p:spPr>
      </p:sp>
      <p:sp>
        <p:nvSpPr>
          <p:cNvPr id="22" name="Text 20"/>
          <p:cNvSpPr/>
          <p:nvPr/>
        </p:nvSpPr>
        <p:spPr>
          <a:xfrm>
            <a:off x="640080" y="6076188"/>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SUCCESS CONDITION: measured equations recover k₁, and simulation agrees with theory.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03</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PROBLEM DECODING</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What is the actual cryptography problem?</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A public permutation surrounds two secret XOR masks.</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03</a:t>
            </a:r>
            <a:endParaRPr lang="en-US" sz="900" dirty="0"/>
          </a:p>
        </p:txBody>
      </p:sp>
      <p:sp>
        <p:nvSpPr>
          <p:cNvPr id="11" name="Shape 9"/>
          <p:cNvSpPr/>
          <p:nvPr/>
        </p:nvSpPr>
        <p:spPr>
          <a:xfrm>
            <a:off x="521208" y="2194560"/>
            <a:ext cx="1819656" cy="1207008"/>
          </a:xfrm>
          <a:prstGeom prst="roundRect">
            <a:avLst>
              <a:gd name="adj" fmla="val 13636"/>
            </a:avLst>
          </a:prstGeom>
          <a:solidFill>
            <a:srgbClr val="152B47"/>
          </a:solidFill>
          <a:ln w="8890">
            <a:solidFill>
              <a:srgbClr val="243B56"/>
            </a:solidFill>
            <a:prstDash val="solid"/>
          </a:ln>
        </p:spPr>
      </p:sp>
      <p:sp>
        <p:nvSpPr>
          <p:cNvPr id="12" name="Text 10"/>
          <p:cNvSpPr/>
          <p:nvPr/>
        </p:nvSpPr>
        <p:spPr>
          <a:xfrm>
            <a:off x="630936" y="2432304"/>
            <a:ext cx="1600200" cy="365760"/>
          </a:xfrm>
          <a:prstGeom prst="rect">
            <a:avLst/>
          </a:prstGeom>
          <a:noFill/>
        </p:spPr>
        <p:txBody>
          <a:bodyPr wrap="square" lIns="0" tIns="0" rIns="0" bIns="0" rtlCol="0" anchor="ctr">
            <a:normAutofit/>
          </a:bodyPr>
          <a:lstStyle/>
          <a:p>
            <a:pPr marL="0" indent="0" algn="ctr">
              <a:buNone/>
            </a:pPr>
            <a:r>
              <a:rPr lang="en-US" sz="2800" b="1" dirty="0">
                <a:solidFill>
                  <a:srgbClr val="F4F9FF"/>
                </a:solidFill>
                <a:latin typeface="Aptos" pitchFamily="34" charset="0"/>
                <a:ea typeface="Aptos" pitchFamily="34" charset="-122"/>
                <a:cs typeface="Aptos" pitchFamily="34" charset="-120"/>
              </a:rPr>
              <a:t>x</a:t>
            </a:r>
            <a:endParaRPr lang="en-US" sz="2800" dirty="0"/>
          </a:p>
        </p:txBody>
      </p:sp>
      <p:sp>
        <p:nvSpPr>
          <p:cNvPr id="13" name="Text 11"/>
          <p:cNvSpPr/>
          <p:nvPr/>
        </p:nvSpPr>
        <p:spPr>
          <a:xfrm>
            <a:off x="603504" y="2953512"/>
            <a:ext cx="1655064" cy="201168"/>
          </a:xfrm>
          <a:prstGeom prst="rect">
            <a:avLst/>
          </a:prstGeom>
          <a:noFill/>
        </p:spPr>
        <p:txBody>
          <a:bodyPr wrap="square" lIns="0" tIns="0" rIns="0" bIns="0" rtlCol="0" anchor="ctr">
            <a:normAutofit/>
          </a:bodyPr>
          <a:lstStyle/>
          <a:p>
            <a:pPr marL="0" indent="0" algn="ctr">
              <a:buNone/>
            </a:pPr>
            <a:r>
              <a:rPr lang="en-US" sz="1150" dirty="0">
                <a:solidFill>
                  <a:srgbClr val="AAC1D7"/>
                </a:solidFill>
                <a:latin typeface="Aptos" pitchFamily="34" charset="0"/>
                <a:ea typeface="Aptos" pitchFamily="34" charset="-122"/>
                <a:cs typeface="Aptos" pitchFamily="34" charset="-120"/>
              </a:rPr>
              <a:t>Plaintext</a:t>
            </a:r>
            <a:endParaRPr lang="en-US" sz="1150" dirty="0"/>
          </a:p>
        </p:txBody>
      </p:sp>
      <p:sp>
        <p:nvSpPr>
          <p:cNvPr id="14" name="Shape 12"/>
          <p:cNvSpPr/>
          <p:nvPr/>
        </p:nvSpPr>
        <p:spPr>
          <a:xfrm>
            <a:off x="2404872" y="2807208"/>
            <a:ext cx="210312" cy="0"/>
          </a:xfrm>
          <a:prstGeom prst="line">
            <a:avLst/>
          </a:prstGeom>
          <a:noFill/>
          <a:ln w="25400">
            <a:solidFill>
              <a:srgbClr val="21D6C4"/>
            </a:solidFill>
            <a:prstDash val="solid"/>
            <a:headEnd type="none"/>
            <a:tailEnd type="triangle"/>
          </a:ln>
        </p:spPr>
      </p:sp>
      <p:sp>
        <p:nvSpPr>
          <p:cNvPr id="15" name="Shape 13"/>
          <p:cNvSpPr/>
          <p:nvPr/>
        </p:nvSpPr>
        <p:spPr>
          <a:xfrm>
            <a:off x="2697480" y="2194560"/>
            <a:ext cx="1819656" cy="1207008"/>
          </a:xfrm>
          <a:prstGeom prst="roundRect">
            <a:avLst>
              <a:gd name="adj" fmla="val 13636"/>
            </a:avLst>
          </a:prstGeom>
          <a:solidFill>
            <a:srgbClr val="152B47"/>
          </a:solidFill>
          <a:ln w="8890">
            <a:solidFill>
              <a:srgbClr val="243B56"/>
            </a:solidFill>
            <a:prstDash val="solid"/>
          </a:ln>
        </p:spPr>
      </p:sp>
      <p:sp>
        <p:nvSpPr>
          <p:cNvPr id="16" name="Text 14"/>
          <p:cNvSpPr/>
          <p:nvPr/>
        </p:nvSpPr>
        <p:spPr>
          <a:xfrm>
            <a:off x="2807208" y="2432304"/>
            <a:ext cx="1600200" cy="365760"/>
          </a:xfrm>
          <a:prstGeom prst="rect">
            <a:avLst/>
          </a:prstGeom>
          <a:noFill/>
        </p:spPr>
        <p:txBody>
          <a:bodyPr wrap="square" lIns="0" tIns="0" rIns="0" bIns="0" rtlCol="0" anchor="ctr">
            <a:normAutofit/>
          </a:bodyPr>
          <a:lstStyle/>
          <a:p>
            <a:pPr marL="0" indent="0" algn="ctr">
              <a:buNone/>
            </a:pPr>
            <a:r>
              <a:rPr lang="en-US" sz="2800" b="1" dirty="0">
                <a:solidFill>
                  <a:srgbClr val="F4F9FF"/>
                </a:solidFill>
                <a:latin typeface="Aptos" pitchFamily="34" charset="0"/>
                <a:ea typeface="Aptos" pitchFamily="34" charset="-122"/>
                <a:cs typeface="Aptos" pitchFamily="34" charset="-120"/>
              </a:rPr>
              <a:t>⊕ k₁</a:t>
            </a:r>
            <a:endParaRPr lang="en-US" sz="2800" dirty="0"/>
          </a:p>
        </p:txBody>
      </p:sp>
      <p:sp>
        <p:nvSpPr>
          <p:cNvPr id="17" name="Text 15"/>
          <p:cNvSpPr/>
          <p:nvPr/>
        </p:nvSpPr>
        <p:spPr>
          <a:xfrm>
            <a:off x="2779776" y="2953512"/>
            <a:ext cx="1655064" cy="201168"/>
          </a:xfrm>
          <a:prstGeom prst="rect">
            <a:avLst/>
          </a:prstGeom>
          <a:noFill/>
        </p:spPr>
        <p:txBody>
          <a:bodyPr wrap="square" lIns="0" tIns="0" rIns="0" bIns="0" rtlCol="0" anchor="ctr">
            <a:normAutofit/>
          </a:bodyPr>
          <a:lstStyle/>
          <a:p>
            <a:pPr marL="0" indent="0" algn="ctr">
              <a:buNone/>
            </a:pPr>
            <a:r>
              <a:rPr lang="en-US" sz="1150" dirty="0">
                <a:solidFill>
                  <a:srgbClr val="AAC1D7"/>
                </a:solidFill>
                <a:latin typeface="Aptos" pitchFamily="34" charset="0"/>
                <a:ea typeface="Aptos" pitchFamily="34" charset="-122"/>
                <a:cs typeface="Aptos" pitchFamily="34" charset="-120"/>
              </a:rPr>
              <a:t>Input secret</a:t>
            </a:r>
            <a:endParaRPr lang="en-US" sz="1150" dirty="0"/>
          </a:p>
        </p:txBody>
      </p:sp>
      <p:sp>
        <p:nvSpPr>
          <p:cNvPr id="18" name="Shape 16"/>
          <p:cNvSpPr/>
          <p:nvPr/>
        </p:nvSpPr>
        <p:spPr>
          <a:xfrm>
            <a:off x="4581144" y="2807208"/>
            <a:ext cx="182880" cy="0"/>
          </a:xfrm>
          <a:prstGeom prst="line">
            <a:avLst/>
          </a:prstGeom>
          <a:noFill/>
          <a:ln w="25400">
            <a:solidFill>
              <a:srgbClr val="21D6C4"/>
            </a:solidFill>
            <a:prstDash val="solid"/>
            <a:headEnd type="none"/>
            <a:tailEnd type="triangle"/>
          </a:ln>
        </p:spPr>
      </p:sp>
      <p:sp>
        <p:nvSpPr>
          <p:cNvPr id="19" name="Shape 17"/>
          <p:cNvSpPr/>
          <p:nvPr/>
        </p:nvSpPr>
        <p:spPr>
          <a:xfrm>
            <a:off x="4846320" y="2194560"/>
            <a:ext cx="1819656" cy="1207008"/>
          </a:xfrm>
          <a:prstGeom prst="roundRect">
            <a:avLst>
              <a:gd name="adj" fmla="val 13636"/>
            </a:avLst>
          </a:prstGeom>
          <a:solidFill>
            <a:srgbClr val="12354A"/>
          </a:solidFill>
          <a:ln w="8890">
            <a:solidFill>
              <a:srgbClr val="243B56"/>
            </a:solidFill>
            <a:prstDash val="solid"/>
          </a:ln>
        </p:spPr>
      </p:sp>
      <p:sp>
        <p:nvSpPr>
          <p:cNvPr id="20" name="Text 18"/>
          <p:cNvSpPr/>
          <p:nvPr/>
        </p:nvSpPr>
        <p:spPr>
          <a:xfrm>
            <a:off x="4956048" y="2432304"/>
            <a:ext cx="1600200" cy="365760"/>
          </a:xfrm>
          <a:prstGeom prst="rect">
            <a:avLst/>
          </a:prstGeom>
          <a:noFill/>
        </p:spPr>
        <p:txBody>
          <a:bodyPr wrap="square" lIns="0" tIns="0" rIns="0" bIns="0" rtlCol="0" anchor="ctr">
            <a:normAutofit/>
          </a:bodyPr>
          <a:lstStyle/>
          <a:p>
            <a:pPr marL="0" indent="0" algn="ctr">
              <a:buNone/>
            </a:pPr>
            <a:r>
              <a:rPr lang="en-US" sz="2800" b="1" dirty="0">
                <a:solidFill>
                  <a:srgbClr val="21D6C4"/>
                </a:solidFill>
                <a:latin typeface="Aptos" pitchFamily="34" charset="0"/>
                <a:ea typeface="Aptos" pitchFamily="34" charset="-122"/>
                <a:cs typeface="Aptos" pitchFamily="34" charset="-120"/>
              </a:rPr>
              <a:t>P(·)</a:t>
            </a:r>
            <a:endParaRPr lang="en-US" sz="2800" dirty="0"/>
          </a:p>
        </p:txBody>
      </p:sp>
      <p:sp>
        <p:nvSpPr>
          <p:cNvPr id="21" name="Text 19"/>
          <p:cNvSpPr/>
          <p:nvPr/>
        </p:nvSpPr>
        <p:spPr>
          <a:xfrm>
            <a:off x="4928616" y="2953512"/>
            <a:ext cx="1655064" cy="201168"/>
          </a:xfrm>
          <a:prstGeom prst="rect">
            <a:avLst/>
          </a:prstGeom>
          <a:noFill/>
        </p:spPr>
        <p:txBody>
          <a:bodyPr wrap="square" lIns="0" tIns="0" rIns="0" bIns="0" rtlCol="0" anchor="ctr">
            <a:normAutofit/>
          </a:bodyPr>
          <a:lstStyle/>
          <a:p>
            <a:pPr marL="0" indent="0" algn="ctr">
              <a:buNone/>
            </a:pPr>
            <a:r>
              <a:rPr lang="en-US" sz="1150" dirty="0">
                <a:solidFill>
                  <a:srgbClr val="AAC1D7"/>
                </a:solidFill>
                <a:latin typeface="Aptos" pitchFamily="34" charset="0"/>
                <a:ea typeface="Aptos" pitchFamily="34" charset="-122"/>
                <a:cs typeface="Aptos" pitchFamily="34" charset="-120"/>
              </a:rPr>
              <a:t>Public permutation</a:t>
            </a:r>
            <a:endParaRPr lang="en-US" sz="1150" dirty="0"/>
          </a:p>
        </p:txBody>
      </p:sp>
      <p:sp>
        <p:nvSpPr>
          <p:cNvPr id="22" name="Shape 20"/>
          <p:cNvSpPr/>
          <p:nvPr/>
        </p:nvSpPr>
        <p:spPr>
          <a:xfrm>
            <a:off x="6729984" y="2807208"/>
            <a:ext cx="283464" cy="0"/>
          </a:xfrm>
          <a:prstGeom prst="line">
            <a:avLst/>
          </a:prstGeom>
          <a:noFill/>
          <a:ln w="25400">
            <a:solidFill>
              <a:srgbClr val="21D6C4"/>
            </a:solidFill>
            <a:prstDash val="solid"/>
            <a:headEnd type="none"/>
            <a:tailEnd type="triangle"/>
          </a:ln>
        </p:spPr>
      </p:sp>
      <p:sp>
        <p:nvSpPr>
          <p:cNvPr id="23" name="Shape 21"/>
          <p:cNvSpPr/>
          <p:nvPr/>
        </p:nvSpPr>
        <p:spPr>
          <a:xfrm>
            <a:off x="7095744" y="2194560"/>
            <a:ext cx="1819656" cy="1207008"/>
          </a:xfrm>
          <a:prstGeom prst="roundRect">
            <a:avLst>
              <a:gd name="adj" fmla="val 13636"/>
            </a:avLst>
          </a:prstGeom>
          <a:solidFill>
            <a:srgbClr val="152B47"/>
          </a:solidFill>
          <a:ln w="8890">
            <a:solidFill>
              <a:srgbClr val="243B56"/>
            </a:solidFill>
            <a:prstDash val="solid"/>
          </a:ln>
        </p:spPr>
      </p:sp>
      <p:sp>
        <p:nvSpPr>
          <p:cNvPr id="24" name="Text 22"/>
          <p:cNvSpPr/>
          <p:nvPr/>
        </p:nvSpPr>
        <p:spPr>
          <a:xfrm>
            <a:off x="7205472" y="2432304"/>
            <a:ext cx="1600200" cy="365760"/>
          </a:xfrm>
          <a:prstGeom prst="rect">
            <a:avLst/>
          </a:prstGeom>
          <a:noFill/>
        </p:spPr>
        <p:txBody>
          <a:bodyPr wrap="square" lIns="0" tIns="0" rIns="0" bIns="0" rtlCol="0" anchor="ctr">
            <a:normAutofit/>
          </a:bodyPr>
          <a:lstStyle/>
          <a:p>
            <a:pPr marL="0" indent="0" algn="ctr">
              <a:buNone/>
            </a:pPr>
            <a:r>
              <a:rPr lang="en-US" sz="2800" b="1" dirty="0">
                <a:solidFill>
                  <a:srgbClr val="F4F9FF"/>
                </a:solidFill>
                <a:latin typeface="Aptos" pitchFamily="34" charset="0"/>
                <a:ea typeface="Aptos" pitchFamily="34" charset="-122"/>
                <a:cs typeface="Aptos" pitchFamily="34" charset="-120"/>
              </a:rPr>
              <a:t>⊕ k₂</a:t>
            </a:r>
            <a:endParaRPr lang="en-US" sz="2800" dirty="0"/>
          </a:p>
        </p:txBody>
      </p:sp>
      <p:sp>
        <p:nvSpPr>
          <p:cNvPr id="25" name="Text 23"/>
          <p:cNvSpPr/>
          <p:nvPr/>
        </p:nvSpPr>
        <p:spPr>
          <a:xfrm>
            <a:off x="7178040" y="2953512"/>
            <a:ext cx="1655064" cy="201168"/>
          </a:xfrm>
          <a:prstGeom prst="rect">
            <a:avLst/>
          </a:prstGeom>
          <a:noFill/>
        </p:spPr>
        <p:txBody>
          <a:bodyPr wrap="square" lIns="0" tIns="0" rIns="0" bIns="0" rtlCol="0" anchor="ctr">
            <a:normAutofit/>
          </a:bodyPr>
          <a:lstStyle/>
          <a:p>
            <a:pPr marL="0" indent="0" algn="ctr">
              <a:buNone/>
            </a:pPr>
            <a:r>
              <a:rPr lang="en-US" sz="1150" dirty="0">
                <a:solidFill>
                  <a:srgbClr val="AAC1D7"/>
                </a:solidFill>
                <a:latin typeface="Aptos" pitchFamily="34" charset="0"/>
                <a:ea typeface="Aptos" pitchFamily="34" charset="-122"/>
                <a:cs typeface="Aptos" pitchFamily="34" charset="-120"/>
              </a:rPr>
              <a:t>Output secret</a:t>
            </a:r>
            <a:endParaRPr lang="en-US" sz="1150" dirty="0"/>
          </a:p>
        </p:txBody>
      </p:sp>
      <p:sp>
        <p:nvSpPr>
          <p:cNvPr id="26" name="Shape 24"/>
          <p:cNvSpPr/>
          <p:nvPr/>
        </p:nvSpPr>
        <p:spPr>
          <a:xfrm>
            <a:off x="8979408" y="2807208"/>
            <a:ext cx="292608" cy="0"/>
          </a:xfrm>
          <a:prstGeom prst="line">
            <a:avLst/>
          </a:prstGeom>
          <a:noFill/>
          <a:ln w="25400">
            <a:solidFill>
              <a:srgbClr val="21D6C4"/>
            </a:solidFill>
            <a:prstDash val="solid"/>
            <a:headEnd type="none"/>
            <a:tailEnd type="triangle"/>
          </a:ln>
        </p:spPr>
      </p:sp>
      <p:sp>
        <p:nvSpPr>
          <p:cNvPr id="27" name="Shape 25"/>
          <p:cNvSpPr/>
          <p:nvPr/>
        </p:nvSpPr>
        <p:spPr>
          <a:xfrm>
            <a:off x="9354312" y="2194560"/>
            <a:ext cx="1819656" cy="1207008"/>
          </a:xfrm>
          <a:prstGeom prst="roundRect">
            <a:avLst>
              <a:gd name="adj" fmla="val 13636"/>
            </a:avLst>
          </a:prstGeom>
          <a:solidFill>
            <a:srgbClr val="152B47"/>
          </a:solidFill>
          <a:ln w="8890">
            <a:solidFill>
              <a:srgbClr val="243B56"/>
            </a:solidFill>
            <a:prstDash val="solid"/>
          </a:ln>
        </p:spPr>
      </p:sp>
      <p:sp>
        <p:nvSpPr>
          <p:cNvPr id="28" name="Text 26"/>
          <p:cNvSpPr/>
          <p:nvPr/>
        </p:nvSpPr>
        <p:spPr>
          <a:xfrm>
            <a:off x="9464040" y="2432304"/>
            <a:ext cx="1600200" cy="365760"/>
          </a:xfrm>
          <a:prstGeom prst="rect">
            <a:avLst/>
          </a:prstGeom>
          <a:noFill/>
        </p:spPr>
        <p:txBody>
          <a:bodyPr wrap="square" lIns="0" tIns="0" rIns="0" bIns="0" rtlCol="0" anchor="ctr">
            <a:normAutofit/>
          </a:bodyPr>
          <a:lstStyle/>
          <a:p>
            <a:pPr marL="0" indent="0" algn="ctr">
              <a:buNone/>
            </a:pPr>
            <a:r>
              <a:rPr lang="en-US" sz="2800" b="1" dirty="0">
                <a:solidFill>
                  <a:srgbClr val="F4F9FF"/>
                </a:solidFill>
                <a:latin typeface="Aptos" pitchFamily="34" charset="0"/>
                <a:ea typeface="Aptos" pitchFamily="34" charset="-122"/>
                <a:cs typeface="Aptos" pitchFamily="34" charset="-120"/>
              </a:rPr>
              <a:t>E(x)</a:t>
            </a:r>
            <a:endParaRPr lang="en-US" sz="2800" dirty="0"/>
          </a:p>
        </p:txBody>
      </p:sp>
      <p:sp>
        <p:nvSpPr>
          <p:cNvPr id="29" name="Text 27"/>
          <p:cNvSpPr/>
          <p:nvPr/>
        </p:nvSpPr>
        <p:spPr>
          <a:xfrm>
            <a:off x="9436608" y="2953512"/>
            <a:ext cx="1655064" cy="201168"/>
          </a:xfrm>
          <a:prstGeom prst="rect">
            <a:avLst/>
          </a:prstGeom>
          <a:noFill/>
        </p:spPr>
        <p:txBody>
          <a:bodyPr wrap="square" lIns="0" tIns="0" rIns="0" bIns="0" rtlCol="0" anchor="ctr">
            <a:normAutofit/>
          </a:bodyPr>
          <a:lstStyle/>
          <a:p>
            <a:pPr marL="0" indent="0" algn="ctr">
              <a:buNone/>
            </a:pPr>
            <a:r>
              <a:rPr lang="en-US" sz="1150" dirty="0">
                <a:solidFill>
                  <a:srgbClr val="AAC1D7"/>
                </a:solidFill>
                <a:latin typeface="Aptos" pitchFamily="34" charset="0"/>
                <a:ea typeface="Aptos" pitchFamily="34" charset="-122"/>
                <a:cs typeface="Aptos" pitchFamily="34" charset="-120"/>
              </a:rPr>
              <a:t>Ciphertext</a:t>
            </a:r>
            <a:endParaRPr lang="en-US" sz="1150" dirty="0"/>
          </a:p>
        </p:txBody>
      </p:sp>
      <p:sp>
        <p:nvSpPr>
          <p:cNvPr id="30" name="Shape 28"/>
          <p:cNvSpPr/>
          <p:nvPr/>
        </p:nvSpPr>
        <p:spPr>
          <a:xfrm>
            <a:off x="530352" y="3867912"/>
            <a:ext cx="3502152" cy="1481328"/>
          </a:xfrm>
          <a:prstGeom prst="roundRect">
            <a:avLst>
              <a:gd name="adj" fmla="val 11111"/>
            </a:avLst>
          </a:prstGeom>
          <a:solidFill>
            <a:srgbClr val="10233C"/>
          </a:solidFill>
          <a:ln w="8890">
            <a:solidFill>
              <a:srgbClr val="243B56"/>
            </a:solidFill>
            <a:prstDash val="solid"/>
          </a:ln>
        </p:spPr>
      </p:sp>
      <p:sp>
        <p:nvSpPr>
          <p:cNvPr id="31" name="Shape 29"/>
          <p:cNvSpPr/>
          <p:nvPr/>
        </p:nvSpPr>
        <p:spPr>
          <a:xfrm>
            <a:off x="676656" y="4050792"/>
            <a:ext cx="36576" cy="1115568"/>
          </a:xfrm>
          <a:prstGeom prst="rect">
            <a:avLst/>
          </a:prstGeom>
          <a:solidFill>
            <a:srgbClr val="60E5A5"/>
          </a:solidFill>
          <a:ln w="12700">
            <a:solidFill>
              <a:srgbClr val="60E5A5"/>
            </a:solidFill>
            <a:prstDash val="solid"/>
          </a:ln>
        </p:spPr>
      </p:sp>
      <p:sp>
        <p:nvSpPr>
          <p:cNvPr id="32" name="Text 30"/>
          <p:cNvSpPr/>
          <p:nvPr/>
        </p:nvSpPr>
        <p:spPr>
          <a:xfrm>
            <a:off x="859536" y="4069080"/>
            <a:ext cx="2990088"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KNOWN</a:t>
            </a:r>
            <a:endParaRPr lang="en-US" sz="1700" dirty="0"/>
          </a:p>
        </p:txBody>
      </p:sp>
      <p:sp>
        <p:nvSpPr>
          <p:cNvPr id="33" name="Text 31"/>
          <p:cNvSpPr/>
          <p:nvPr/>
        </p:nvSpPr>
        <p:spPr>
          <a:xfrm>
            <a:off x="859536" y="4462272"/>
            <a:ext cx="2962656" cy="758952"/>
          </a:xfrm>
          <a:prstGeom prst="rect">
            <a:avLst/>
          </a:prstGeom>
          <a:noFill/>
        </p:spPr>
        <p:txBody>
          <a:bodyPr wrap="square" lIns="0" tIns="0" rIns="0" bIns="0" rtlCol="0" anchor="t">
            <a:normAutofit/>
          </a:bodyPr>
          <a:lstStyle/>
          <a:p>
            <a:pPr marL="0" indent="0">
              <a:buNone/>
            </a:pPr>
            <a:r>
              <a:rPr lang="en-US" sz="1600" dirty="0">
                <a:solidFill>
                  <a:srgbClr val="AAC1D7"/>
                </a:solidFill>
                <a:latin typeface="Aptos" pitchFamily="34" charset="0"/>
                <a:ea typeface="Aptos" pitchFamily="34" charset="-122"/>
                <a:cs typeface="Aptos" pitchFamily="34" charset="-120"/>
              </a:rPr>
              <a:t>P is public; we can evaluate the encryption E.</a:t>
            </a:r>
            <a:endParaRPr lang="en-US" sz="1600" dirty="0"/>
          </a:p>
        </p:txBody>
      </p:sp>
      <p:sp>
        <p:nvSpPr>
          <p:cNvPr id="34" name="Shape 32"/>
          <p:cNvSpPr/>
          <p:nvPr/>
        </p:nvSpPr>
        <p:spPr>
          <a:xfrm>
            <a:off x="4242816" y="3867912"/>
            <a:ext cx="3502152" cy="1481328"/>
          </a:xfrm>
          <a:prstGeom prst="roundRect">
            <a:avLst>
              <a:gd name="adj" fmla="val 11111"/>
            </a:avLst>
          </a:prstGeom>
          <a:solidFill>
            <a:srgbClr val="10233C"/>
          </a:solidFill>
          <a:ln w="8890">
            <a:solidFill>
              <a:srgbClr val="243B56"/>
            </a:solidFill>
            <a:prstDash val="solid"/>
          </a:ln>
        </p:spPr>
      </p:sp>
      <p:sp>
        <p:nvSpPr>
          <p:cNvPr id="35" name="Shape 33"/>
          <p:cNvSpPr/>
          <p:nvPr/>
        </p:nvSpPr>
        <p:spPr>
          <a:xfrm>
            <a:off x="4389120" y="4050792"/>
            <a:ext cx="36576" cy="1115568"/>
          </a:xfrm>
          <a:prstGeom prst="rect">
            <a:avLst/>
          </a:prstGeom>
          <a:solidFill>
            <a:srgbClr val="FFC76B"/>
          </a:solidFill>
          <a:ln w="12700">
            <a:solidFill>
              <a:srgbClr val="FFC76B"/>
            </a:solidFill>
            <a:prstDash val="solid"/>
          </a:ln>
        </p:spPr>
      </p:sp>
      <p:sp>
        <p:nvSpPr>
          <p:cNvPr id="36" name="Text 34"/>
          <p:cNvSpPr/>
          <p:nvPr/>
        </p:nvSpPr>
        <p:spPr>
          <a:xfrm>
            <a:off x="4572000" y="4069080"/>
            <a:ext cx="2990088"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UNKNOWN</a:t>
            </a:r>
            <a:endParaRPr lang="en-US" sz="1700" dirty="0"/>
          </a:p>
        </p:txBody>
      </p:sp>
      <p:sp>
        <p:nvSpPr>
          <p:cNvPr id="37" name="Text 35"/>
          <p:cNvSpPr/>
          <p:nvPr/>
        </p:nvSpPr>
        <p:spPr>
          <a:xfrm>
            <a:off x="4572000" y="4462272"/>
            <a:ext cx="2962656" cy="758952"/>
          </a:xfrm>
          <a:prstGeom prst="rect">
            <a:avLst/>
          </a:prstGeom>
          <a:noFill/>
        </p:spPr>
        <p:txBody>
          <a:bodyPr wrap="square" lIns="0" tIns="0" rIns="0" bIns="0" rtlCol="0" anchor="t">
            <a:normAutofit/>
          </a:bodyPr>
          <a:lstStyle/>
          <a:p>
            <a:pPr marL="0" indent="0">
              <a:buNone/>
            </a:pPr>
            <a:r>
              <a:rPr lang="en-US" sz="1600" dirty="0">
                <a:solidFill>
                  <a:srgbClr val="AAC1D7"/>
                </a:solidFill>
                <a:latin typeface="Aptos" pitchFamily="34" charset="0"/>
                <a:ea typeface="Aptos" pitchFamily="34" charset="-122"/>
                <a:cs typeface="Aptos" pitchFamily="34" charset="-120"/>
              </a:rPr>
              <a:t>The hidden input key k₁ and output key k₂.</a:t>
            </a:r>
            <a:endParaRPr lang="en-US" sz="1600" dirty="0"/>
          </a:p>
        </p:txBody>
      </p:sp>
      <p:sp>
        <p:nvSpPr>
          <p:cNvPr id="38" name="Shape 36"/>
          <p:cNvSpPr/>
          <p:nvPr/>
        </p:nvSpPr>
        <p:spPr>
          <a:xfrm>
            <a:off x="7955280" y="3867912"/>
            <a:ext cx="3602736" cy="1481328"/>
          </a:xfrm>
          <a:prstGeom prst="roundRect">
            <a:avLst>
              <a:gd name="adj" fmla="val 11111"/>
            </a:avLst>
          </a:prstGeom>
          <a:solidFill>
            <a:srgbClr val="10233C"/>
          </a:solidFill>
          <a:ln w="8890">
            <a:solidFill>
              <a:srgbClr val="243B56"/>
            </a:solidFill>
            <a:prstDash val="solid"/>
          </a:ln>
        </p:spPr>
      </p:sp>
      <p:sp>
        <p:nvSpPr>
          <p:cNvPr id="39" name="Shape 37"/>
          <p:cNvSpPr/>
          <p:nvPr/>
        </p:nvSpPr>
        <p:spPr>
          <a:xfrm>
            <a:off x="8101584" y="4050792"/>
            <a:ext cx="36576" cy="1115568"/>
          </a:xfrm>
          <a:prstGeom prst="rect">
            <a:avLst/>
          </a:prstGeom>
          <a:solidFill>
            <a:srgbClr val="49BCFF"/>
          </a:solidFill>
          <a:ln w="12700">
            <a:solidFill>
              <a:srgbClr val="49BCFF"/>
            </a:solidFill>
            <a:prstDash val="solid"/>
          </a:ln>
        </p:spPr>
      </p:sp>
      <p:sp>
        <p:nvSpPr>
          <p:cNvPr id="40" name="Text 38"/>
          <p:cNvSpPr/>
          <p:nvPr/>
        </p:nvSpPr>
        <p:spPr>
          <a:xfrm>
            <a:off x="8284464" y="4069080"/>
            <a:ext cx="309067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KEY INSIGHT</a:t>
            </a:r>
            <a:endParaRPr lang="en-US" sz="1700" dirty="0"/>
          </a:p>
        </p:txBody>
      </p:sp>
      <p:sp>
        <p:nvSpPr>
          <p:cNvPr id="41" name="Text 39"/>
          <p:cNvSpPr/>
          <p:nvPr/>
        </p:nvSpPr>
        <p:spPr>
          <a:xfrm>
            <a:off x="8284464" y="4462272"/>
            <a:ext cx="3063240" cy="758952"/>
          </a:xfrm>
          <a:prstGeom prst="rect">
            <a:avLst/>
          </a:prstGeom>
          <a:noFill/>
        </p:spPr>
        <p:txBody>
          <a:bodyPr wrap="square" lIns="0" tIns="0" rIns="0" bIns="0" rtlCol="0" anchor="t">
            <a:normAutofit/>
          </a:bodyPr>
          <a:lstStyle/>
          <a:p>
            <a:pPr marL="0" indent="0">
              <a:buNone/>
            </a:pPr>
            <a:r>
              <a:rPr lang="en-US" sz="1580" dirty="0">
                <a:solidFill>
                  <a:srgbClr val="AAC1D7"/>
                </a:solidFill>
                <a:latin typeface="Aptos" pitchFamily="34" charset="0"/>
                <a:ea typeface="Aptos" pitchFamily="34" charset="-122"/>
                <a:cs typeface="Aptos" pitchFamily="34" charset="-120"/>
              </a:rPr>
              <a:t>Build f(x) = E(x) ⊕ P(x); find its XOR period.</a:t>
            </a:r>
            <a:endParaRPr lang="en-US" sz="1580" dirty="0"/>
          </a:p>
        </p:txBody>
      </p:sp>
      <p:sp>
        <p:nvSpPr>
          <p:cNvPr id="42" name="Shape 40"/>
          <p:cNvSpPr/>
          <p:nvPr/>
        </p:nvSpPr>
        <p:spPr>
          <a:xfrm>
            <a:off x="438912" y="5833872"/>
            <a:ext cx="11283696" cy="347472"/>
          </a:xfrm>
          <a:prstGeom prst="roundRect">
            <a:avLst>
              <a:gd name="adj" fmla="val 47368"/>
            </a:avLst>
          </a:prstGeom>
          <a:solidFill>
            <a:srgbClr val="152B47"/>
          </a:solidFill>
          <a:ln w="8890">
            <a:solidFill>
              <a:srgbClr val="152B47"/>
            </a:solidFill>
            <a:prstDash val="solid"/>
          </a:ln>
        </p:spPr>
      </p:sp>
      <p:sp>
        <p:nvSpPr>
          <p:cNvPr id="43" name="Text 41"/>
          <p:cNvSpPr/>
          <p:nvPr/>
        </p:nvSpPr>
        <p:spPr>
          <a:xfrm>
            <a:off x="640080" y="5865876"/>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ENCRYPTION → PERIODIC FUNCTION → SIMON MEASUREMENTS → SECRET KEY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04</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TOY CONSTRUCTION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Our 3-bit example: complete truth table</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Eight inputs; chosen keys are k₁ = 101 and k₂ = 011.</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04</a:t>
            </a:r>
            <a:endParaRPr lang="en-US" sz="900" dirty="0"/>
          </a:p>
        </p:txBody>
      </p:sp>
      <p:sp>
        <p:nvSpPr>
          <p:cNvPr id="11" name="Shape 9"/>
          <p:cNvSpPr/>
          <p:nvPr/>
        </p:nvSpPr>
        <p:spPr>
          <a:xfrm>
            <a:off x="521208" y="2002536"/>
            <a:ext cx="6766560" cy="338328"/>
          </a:xfrm>
          <a:prstGeom prst="roundRect">
            <a:avLst>
              <a:gd name="adj" fmla="val 48649"/>
            </a:avLst>
          </a:prstGeom>
          <a:solidFill>
            <a:srgbClr val="152B47"/>
          </a:solidFill>
          <a:ln w="8890">
            <a:solidFill>
              <a:srgbClr val="152B47"/>
            </a:solidFill>
            <a:prstDash val="solid"/>
          </a:ln>
        </p:spPr>
      </p:sp>
      <p:sp>
        <p:nvSpPr>
          <p:cNvPr id="12" name="Text 10"/>
          <p:cNvSpPr/>
          <p:nvPr/>
        </p:nvSpPr>
        <p:spPr>
          <a:xfrm>
            <a:off x="630936" y="2011680"/>
            <a:ext cx="6547104" cy="320040"/>
          </a:xfrm>
          <a:prstGeom prst="rect">
            <a:avLst/>
          </a:prstGeom>
          <a:noFill/>
        </p:spPr>
        <p:txBody>
          <a:bodyPr wrap="square" lIns="0" tIns="0" rIns="0" bIns="0" rtlCol="0" anchor="ctr">
            <a:normAutofit/>
          </a:bodyPr>
          <a:lstStyle/>
          <a:p>
            <a:pPr marL="0" indent="0" algn="ctr">
              <a:buNone/>
            </a:pPr>
            <a:r>
              <a:rPr lang="en-US" sz="1020" b="1" dirty="0">
                <a:solidFill>
                  <a:srgbClr val="49BCFF"/>
                </a:solidFill>
                <a:latin typeface="Aptos" pitchFamily="34" charset="0"/>
                <a:ea typeface="Aptos" pitchFamily="34" charset="-122"/>
                <a:cs typeface="Aptos" pitchFamily="34" charset="-120"/>
              </a:rPr>
              <a:t>PUBLIC P: 000, 010, 011, 101, 100, 001, 110, 111</a:t>
            </a:r>
            <a:endParaRPr lang="en-US" sz="1020" dirty="0"/>
          </a:p>
        </p:txBody>
      </p:sp>
      <p:sp>
        <p:nvSpPr>
          <p:cNvPr id="13" name="Shape 11"/>
          <p:cNvSpPr/>
          <p:nvPr/>
        </p:nvSpPr>
        <p:spPr>
          <a:xfrm>
            <a:off x="557784" y="2560320"/>
            <a:ext cx="1261872" cy="393192"/>
          </a:xfrm>
          <a:prstGeom prst="roundRect">
            <a:avLst>
              <a:gd name="adj" fmla="val 41860"/>
            </a:avLst>
          </a:prstGeom>
          <a:solidFill>
            <a:srgbClr val="152B47"/>
          </a:solidFill>
          <a:ln w="8890">
            <a:solidFill>
              <a:srgbClr val="152B47"/>
            </a:solidFill>
            <a:prstDash val="solid"/>
          </a:ln>
        </p:spPr>
      </p:sp>
      <p:sp>
        <p:nvSpPr>
          <p:cNvPr id="14" name="Text 12"/>
          <p:cNvSpPr/>
          <p:nvPr/>
        </p:nvSpPr>
        <p:spPr>
          <a:xfrm>
            <a:off x="576072" y="2615184"/>
            <a:ext cx="1234440" cy="274320"/>
          </a:xfrm>
          <a:prstGeom prst="rect">
            <a:avLst/>
          </a:prstGeom>
          <a:noFill/>
        </p:spPr>
        <p:txBody>
          <a:bodyPr wrap="square" lIns="0" tIns="0" rIns="0" bIns="0" rtlCol="0" anchor="ctr">
            <a:normAutofit/>
          </a:bodyPr>
          <a:lstStyle/>
          <a:p>
            <a:pPr marL="0" indent="0" algn="ctr">
              <a:buNone/>
            </a:pPr>
            <a:r>
              <a:rPr lang="en-US" sz="1400" b="1" dirty="0">
                <a:solidFill>
                  <a:srgbClr val="21D6C4"/>
                </a:solidFill>
                <a:latin typeface="Aptos" pitchFamily="34" charset="0"/>
                <a:ea typeface="Aptos" pitchFamily="34" charset="-122"/>
                <a:cs typeface="Aptos" pitchFamily="34" charset="-120"/>
              </a:rPr>
              <a:t>x</a:t>
            </a:r>
            <a:endParaRPr lang="en-US" sz="1400" dirty="0"/>
          </a:p>
        </p:txBody>
      </p:sp>
      <p:sp>
        <p:nvSpPr>
          <p:cNvPr id="15" name="Shape 13"/>
          <p:cNvSpPr/>
          <p:nvPr/>
        </p:nvSpPr>
        <p:spPr>
          <a:xfrm>
            <a:off x="1865376" y="2560320"/>
            <a:ext cx="1581912" cy="393192"/>
          </a:xfrm>
          <a:prstGeom prst="roundRect">
            <a:avLst>
              <a:gd name="adj" fmla="val 41860"/>
            </a:avLst>
          </a:prstGeom>
          <a:solidFill>
            <a:srgbClr val="152B47"/>
          </a:solidFill>
          <a:ln w="8890">
            <a:solidFill>
              <a:srgbClr val="152B47"/>
            </a:solidFill>
            <a:prstDash val="solid"/>
          </a:ln>
        </p:spPr>
      </p:sp>
      <p:sp>
        <p:nvSpPr>
          <p:cNvPr id="16" name="Text 14"/>
          <p:cNvSpPr/>
          <p:nvPr/>
        </p:nvSpPr>
        <p:spPr>
          <a:xfrm>
            <a:off x="1883664" y="2615184"/>
            <a:ext cx="1554480" cy="274320"/>
          </a:xfrm>
          <a:prstGeom prst="rect">
            <a:avLst/>
          </a:prstGeom>
          <a:noFill/>
        </p:spPr>
        <p:txBody>
          <a:bodyPr wrap="square" lIns="0" tIns="0" rIns="0" bIns="0" rtlCol="0" anchor="ctr">
            <a:normAutofit/>
          </a:bodyPr>
          <a:lstStyle/>
          <a:p>
            <a:pPr marL="0" indent="0" algn="ctr">
              <a:buNone/>
            </a:pPr>
            <a:r>
              <a:rPr lang="en-US" sz="1400" b="1" dirty="0">
                <a:solidFill>
                  <a:srgbClr val="21D6C4"/>
                </a:solidFill>
                <a:latin typeface="Aptos" pitchFamily="34" charset="0"/>
                <a:ea typeface="Aptos" pitchFamily="34" charset="-122"/>
                <a:cs typeface="Aptos" pitchFamily="34" charset="-120"/>
              </a:rPr>
              <a:t>P(x)</a:t>
            </a:r>
            <a:endParaRPr lang="en-US" sz="1400" dirty="0"/>
          </a:p>
        </p:txBody>
      </p:sp>
      <p:sp>
        <p:nvSpPr>
          <p:cNvPr id="17" name="Shape 15"/>
          <p:cNvSpPr/>
          <p:nvPr/>
        </p:nvSpPr>
        <p:spPr>
          <a:xfrm>
            <a:off x="3493008" y="2560320"/>
            <a:ext cx="1883664" cy="393192"/>
          </a:xfrm>
          <a:prstGeom prst="roundRect">
            <a:avLst>
              <a:gd name="adj" fmla="val 41860"/>
            </a:avLst>
          </a:prstGeom>
          <a:solidFill>
            <a:srgbClr val="152B47"/>
          </a:solidFill>
          <a:ln w="8890">
            <a:solidFill>
              <a:srgbClr val="152B47"/>
            </a:solidFill>
            <a:prstDash val="solid"/>
          </a:ln>
        </p:spPr>
      </p:sp>
      <p:sp>
        <p:nvSpPr>
          <p:cNvPr id="18" name="Text 16"/>
          <p:cNvSpPr/>
          <p:nvPr/>
        </p:nvSpPr>
        <p:spPr>
          <a:xfrm>
            <a:off x="3511296" y="2615184"/>
            <a:ext cx="1856232" cy="274320"/>
          </a:xfrm>
          <a:prstGeom prst="rect">
            <a:avLst/>
          </a:prstGeom>
          <a:noFill/>
        </p:spPr>
        <p:txBody>
          <a:bodyPr wrap="square" lIns="0" tIns="0" rIns="0" bIns="0" rtlCol="0" anchor="ctr">
            <a:normAutofit/>
          </a:bodyPr>
          <a:lstStyle/>
          <a:p>
            <a:pPr marL="0" indent="0" algn="ctr">
              <a:buNone/>
            </a:pPr>
            <a:r>
              <a:rPr lang="en-US" sz="1400" b="1" dirty="0">
                <a:solidFill>
                  <a:srgbClr val="21D6C4"/>
                </a:solidFill>
                <a:latin typeface="Aptos" pitchFamily="34" charset="0"/>
                <a:ea typeface="Aptos" pitchFamily="34" charset="-122"/>
                <a:cs typeface="Aptos" pitchFamily="34" charset="-120"/>
              </a:rPr>
              <a:t>x ⊕ 101</a:t>
            </a:r>
            <a:endParaRPr lang="en-US" sz="1400" dirty="0"/>
          </a:p>
        </p:txBody>
      </p:sp>
      <p:sp>
        <p:nvSpPr>
          <p:cNvPr id="19" name="Shape 17"/>
          <p:cNvSpPr/>
          <p:nvPr/>
        </p:nvSpPr>
        <p:spPr>
          <a:xfrm>
            <a:off x="5422392" y="2560320"/>
            <a:ext cx="1490472" cy="393192"/>
          </a:xfrm>
          <a:prstGeom prst="roundRect">
            <a:avLst>
              <a:gd name="adj" fmla="val 41860"/>
            </a:avLst>
          </a:prstGeom>
          <a:solidFill>
            <a:srgbClr val="152B47"/>
          </a:solidFill>
          <a:ln w="8890">
            <a:solidFill>
              <a:srgbClr val="152B47"/>
            </a:solidFill>
            <a:prstDash val="solid"/>
          </a:ln>
        </p:spPr>
      </p:sp>
      <p:sp>
        <p:nvSpPr>
          <p:cNvPr id="20" name="Text 18"/>
          <p:cNvSpPr/>
          <p:nvPr/>
        </p:nvSpPr>
        <p:spPr>
          <a:xfrm>
            <a:off x="5440680" y="2615184"/>
            <a:ext cx="1463040" cy="274320"/>
          </a:xfrm>
          <a:prstGeom prst="rect">
            <a:avLst/>
          </a:prstGeom>
          <a:noFill/>
        </p:spPr>
        <p:txBody>
          <a:bodyPr wrap="square" lIns="0" tIns="0" rIns="0" bIns="0" rtlCol="0" anchor="ctr">
            <a:normAutofit/>
          </a:bodyPr>
          <a:lstStyle/>
          <a:p>
            <a:pPr marL="0" indent="0" algn="ctr">
              <a:buNone/>
            </a:pPr>
            <a:r>
              <a:rPr lang="en-US" sz="1400" b="1" dirty="0">
                <a:solidFill>
                  <a:srgbClr val="21D6C4"/>
                </a:solidFill>
                <a:latin typeface="Aptos" pitchFamily="34" charset="0"/>
                <a:ea typeface="Aptos" pitchFamily="34" charset="-122"/>
                <a:cs typeface="Aptos" pitchFamily="34" charset="-120"/>
              </a:rPr>
              <a:t>E(x)</a:t>
            </a:r>
            <a:endParaRPr lang="en-US" sz="1400" dirty="0"/>
          </a:p>
        </p:txBody>
      </p:sp>
      <p:sp>
        <p:nvSpPr>
          <p:cNvPr id="21" name="Shape 19"/>
          <p:cNvSpPr/>
          <p:nvPr/>
        </p:nvSpPr>
        <p:spPr>
          <a:xfrm>
            <a:off x="6958584" y="2560320"/>
            <a:ext cx="1481328" cy="393192"/>
          </a:xfrm>
          <a:prstGeom prst="roundRect">
            <a:avLst>
              <a:gd name="adj" fmla="val 41860"/>
            </a:avLst>
          </a:prstGeom>
          <a:solidFill>
            <a:srgbClr val="152B47"/>
          </a:solidFill>
          <a:ln w="8890">
            <a:solidFill>
              <a:srgbClr val="152B47"/>
            </a:solidFill>
            <a:prstDash val="solid"/>
          </a:ln>
        </p:spPr>
      </p:sp>
      <p:sp>
        <p:nvSpPr>
          <p:cNvPr id="22" name="Text 20"/>
          <p:cNvSpPr/>
          <p:nvPr/>
        </p:nvSpPr>
        <p:spPr>
          <a:xfrm>
            <a:off x="6976872" y="2615184"/>
            <a:ext cx="1453896" cy="274320"/>
          </a:xfrm>
          <a:prstGeom prst="rect">
            <a:avLst/>
          </a:prstGeom>
          <a:noFill/>
        </p:spPr>
        <p:txBody>
          <a:bodyPr wrap="square" lIns="0" tIns="0" rIns="0" bIns="0" rtlCol="0" anchor="ctr">
            <a:normAutofit/>
          </a:bodyPr>
          <a:lstStyle/>
          <a:p>
            <a:pPr marL="0" indent="0" algn="ctr">
              <a:buNone/>
            </a:pPr>
            <a:r>
              <a:rPr lang="en-US" sz="1400" b="1" dirty="0">
                <a:solidFill>
                  <a:srgbClr val="21D6C4"/>
                </a:solidFill>
                <a:latin typeface="Aptos" pitchFamily="34" charset="0"/>
                <a:ea typeface="Aptos" pitchFamily="34" charset="-122"/>
                <a:cs typeface="Aptos" pitchFamily="34" charset="-120"/>
              </a:rPr>
              <a:t>f(x)</a:t>
            </a:r>
            <a:endParaRPr lang="en-US" sz="1400" dirty="0"/>
          </a:p>
        </p:txBody>
      </p:sp>
      <p:sp>
        <p:nvSpPr>
          <p:cNvPr id="23" name="Shape 21"/>
          <p:cNvSpPr/>
          <p:nvPr/>
        </p:nvSpPr>
        <p:spPr>
          <a:xfrm>
            <a:off x="557784" y="2980944"/>
            <a:ext cx="1261872" cy="352044"/>
          </a:xfrm>
          <a:prstGeom prst="roundRect">
            <a:avLst>
              <a:gd name="adj" fmla="val 46753"/>
            </a:avLst>
          </a:prstGeom>
          <a:solidFill>
            <a:srgbClr val="10233C"/>
          </a:solidFill>
          <a:ln w="8890">
            <a:solidFill>
              <a:srgbClr val="0D1F35"/>
            </a:solidFill>
            <a:prstDash val="solid"/>
          </a:ln>
        </p:spPr>
      </p:sp>
      <p:sp>
        <p:nvSpPr>
          <p:cNvPr id="24" name="Text 22"/>
          <p:cNvSpPr/>
          <p:nvPr/>
        </p:nvSpPr>
        <p:spPr>
          <a:xfrm>
            <a:off x="603504" y="3012948"/>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000</a:t>
            </a:r>
            <a:endParaRPr lang="en-US" sz="1400" dirty="0"/>
          </a:p>
        </p:txBody>
      </p:sp>
      <p:sp>
        <p:nvSpPr>
          <p:cNvPr id="25" name="Shape 23"/>
          <p:cNvSpPr/>
          <p:nvPr/>
        </p:nvSpPr>
        <p:spPr>
          <a:xfrm>
            <a:off x="1865376" y="2980944"/>
            <a:ext cx="1581912" cy="352044"/>
          </a:xfrm>
          <a:prstGeom prst="roundRect">
            <a:avLst>
              <a:gd name="adj" fmla="val 46753"/>
            </a:avLst>
          </a:prstGeom>
          <a:solidFill>
            <a:srgbClr val="10233C"/>
          </a:solidFill>
          <a:ln w="8890">
            <a:solidFill>
              <a:srgbClr val="0D1F35"/>
            </a:solidFill>
            <a:prstDash val="solid"/>
          </a:ln>
        </p:spPr>
      </p:sp>
      <p:sp>
        <p:nvSpPr>
          <p:cNvPr id="26" name="Text 24"/>
          <p:cNvSpPr/>
          <p:nvPr/>
        </p:nvSpPr>
        <p:spPr>
          <a:xfrm>
            <a:off x="1911096" y="3012948"/>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000</a:t>
            </a:r>
            <a:endParaRPr lang="en-US" sz="1400" dirty="0"/>
          </a:p>
        </p:txBody>
      </p:sp>
      <p:sp>
        <p:nvSpPr>
          <p:cNvPr id="27" name="Shape 25"/>
          <p:cNvSpPr/>
          <p:nvPr/>
        </p:nvSpPr>
        <p:spPr>
          <a:xfrm>
            <a:off x="3493008" y="2980944"/>
            <a:ext cx="1883664" cy="352044"/>
          </a:xfrm>
          <a:prstGeom prst="roundRect">
            <a:avLst>
              <a:gd name="adj" fmla="val 46753"/>
            </a:avLst>
          </a:prstGeom>
          <a:solidFill>
            <a:srgbClr val="10233C"/>
          </a:solidFill>
          <a:ln w="8890">
            <a:solidFill>
              <a:srgbClr val="0D1F35"/>
            </a:solidFill>
            <a:prstDash val="solid"/>
          </a:ln>
        </p:spPr>
      </p:sp>
      <p:sp>
        <p:nvSpPr>
          <p:cNvPr id="28" name="Text 26"/>
          <p:cNvSpPr/>
          <p:nvPr/>
        </p:nvSpPr>
        <p:spPr>
          <a:xfrm>
            <a:off x="3538728" y="3012948"/>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101</a:t>
            </a:r>
            <a:endParaRPr lang="en-US" sz="1400" dirty="0"/>
          </a:p>
        </p:txBody>
      </p:sp>
      <p:sp>
        <p:nvSpPr>
          <p:cNvPr id="29" name="Shape 27"/>
          <p:cNvSpPr/>
          <p:nvPr/>
        </p:nvSpPr>
        <p:spPr>
          <a:xfrm>
            <a:off x="5422392" y="2980944"/>
            <a:ext cx="1490472" cy="352044"/>
          </a:xfrm>
          <a:prstGeom prst="roundRect">
            <a:avLst>
              <a:gd name="adj" fmla="val 46753"/>
            </a:avLst>
          </a:prstGeom>
          <a:solidFill>
            <a:srgbClr val="10233C"/>
          </a:solidFill>
          <a:ln w="8890">
            <a:solidFill>
              <a:srgbClr val="0D1F35"/>
            </a:solidFill>
            <a:prstDash val="solid"/>
          </a:ln>
        </p:spPr>
      </p:sp>
      <p:sp>
        <p:nvSpPr>
          <p:cNvPr id="30" name="Text 28"/>
          <p:cNvSpPr/>
          <p:nvPr/>
        </p:nvSpPr>
        <p:spPr>
          <a:xfrm>
            <a:off x="5468112" y="3012948"/>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010</a:t>
            </a:r>
            <a:endParaRPr lang="en-US" sz="1400" dirty="0"/>
          </a:p>
        </p:txBody>
      </p:sp>
      <p:sp>
        <p:nvSpPr>
          <p:cNvPr id="31" name="Shape 29"/>
          <p:cNvSpPr/>
          <p:nvPr/>
        </p:nvSpPr>
        <p:spPr>
          <a:xfrm>
            <a:off x="6958584" y="2980944"/>
            <a:ext cx="1481328" cy="352044"/>
          </a:xfrm>
          <a:prstGeom prst="roundRect">
            <a:avLst>
              <a:gd name="adj" fmla="val 46753"/>
            </a:avLst>
          </a:prstGeom>
          <a:solidFill>
            <a:srgbClr val="10233C"/>
          </a:solidFill>
          <a:ln w="8890">
            <a:solidFill>
              <a:srgbClr val="0D1F35"/>
            </a:solidFill>
            <a:prstDash val="solid"/>
          </a:ln>
        </p:spPr>
      </p:sp>
      <p:sp>
        <p:nvSpPr>
          <p:cNvPr id="32" name="Text 30"/>
          <p:cNvSpPr/>
          <p:nvPr/>
        </p:nvSpPr>
        <p:spPr>
          <a:xfrm>
            <a:off x="7004304" y="3012948"/>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010</a:t>
            </a:r>
            <a:endParaRPr lang="en-US" sz="1400" dirty="0"/>
          </a:p>
        </p:txBody>
      </p:sp>
      <p:sp>
        <p:nvSpPr>
          <p:cNvPr id="33" name="Shape 31"/>
          <p:cNvSpPr/>
          <p:nvPr/>
        </p:nvSpPr>
        <p:spPr>
          <a:xfrm>
            <a:off x="557784" y="3351276"/>
            <a:ext cx="1261872" cy="352044"/>
          </a:xfrm>
          <a:prstGeom prst="roundRect">
            <a:avLst>
              <a:gd name="adj" fmla="val 46753"/>
            </a:avLst>
          </a:prstGeom>
          <a:solidFill>
            <a:srgbClr val="0D1F35"/>
          </a:solidFill>
          <a:ln w="8890">
            <a:solidFill>
              <a:srgbClr val="0D1F35"/>
            </a:solidFill>
            <a:prstDash val="solid"/>
          </a:ln>
        </p:spPr>
      </p:sp>
      <p:sp>
        <p:nvSpPr>
          <p:cNvPr id="34" name="Text 32"/>
          <p:cNvSpPr/>
          <p:nvPr/>
        </p:nvSpPr>
        <p:spPr>
          <a:xfrm>
            <a:off x="603504" y="3383280"/>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001</a:t>
            </a:r>
            <a:endParaRPr lang="en-US" sz="1400" dirty="0"/>
          </a:p>
        </p:txBody>
      </p:sp>
      <p:sp>
        <p:nvSpPr>
          <p:cNvPr id="35" name="Shape 33"/>
          <p:cNvSpPr/>
          <p:nvPr/>
        </p:nvSpPr>
        <p:spPr>
          <a:xfrm>
            <a:off x="1865376" y="3351276"/>
            <a:ext cx="1581912" cy="352044"/>
          </a:xfrm>
          <a:prstGeom prst="roundRect">
            <a:avLst>
              <a:gd name="adj" fmla="val 46753"/>
            </a:avLst>
          </a:prstGeom>
          <a:solidFill>
            <a:srgbClr val="0D1F35"/>
          </a:solidFill>
          <a:ln w="8890">
            <a:solidFill>
              <a:srgbClr val="0D1F35"/>
            </a:solidFill>
            <a:prstDash val="solid"/>
          </a:ln>
        </p:spPr>
      </p:sp>
      <p:sp>
        <p:nvSpPr>
          <p:cNvPr id="36" name="Text 34"/>
          <p:cNvSpPr/>
          <p:nvPr/>
        </p:nvSpPr>
        <p:spPr>
          <a:xfrm>
            <a:off x="1911096" y="3383280"/>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010</a:t>
            </a:r>
            <a:endParaRPr lang="en-US" sz="1400" dirty="0"/>
          </a:p>
        </p:txBody>
      </p:sp>
      <p:sp>
        <p:nvSpPr>
          <p:cNvPr id="37" name="Shape 35"/>
          <p:cNvSpPr/>
          <p:nvPr/>
        </p:nvSpPr>
        <p:spPr>
          <a:xfrm>
            <a:off x="3493008" y="3351276"/>
            <a:ext cx="1883664" cy="352044"/>
          </a:xfrm>
          <a:prstGeom prst="roundRect">
            <a:avLst>
              <a:gd name="adj" fmla="val 46753"/>
            </a:avLst>
          </a:prstGeom>
          <a:solidFill>
            <a:srgbClr val="0D1F35"/>
          </a:solidFill>
          <a:ln w="8890">
            <a:solidFill>
              <a:srgbClr val="0D1F35"/>
            </a:solidFill>
            <a:prstDash val="solid"/>
          </a:ln>
        </p:spPr>
      </p:sp>
      <p:sp>
        <p:nvSpPr>
          <p:cNvPr id="38" name="Text 36"/>
          <p:cNvSpPr/>
          <p:nvPr/>
        </p:nvSpPr>
        <p:spPr>
          <a:xfrm>
            <a:off x="3538728" y="3383280"/>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100</a:t>
            </a:r>
            <a:endParaRPr lang="en-US" sz="1400" dirty="0"/>
          </a:p>
        </p:txBody>
      </p:sp>
      <p:sp>
        <p:nvSpPr>
          <p:cNvPr id="39" name="Shape 37"/>
          <p:cNvSpPr/>
          <p:nvPr/>
        </p:nvSpPr>
        <p:spPr>
          <a:xfrm>
            <a:off x="5422392" y="3351276"/>
            <a:ext cx="1490472" cy="352044"/>
          </a:xfrm>
          <a:prstGeom prst="roundRect">
            <a:avLst>
              <a:gd name="adj" fmla="val 46753"/>
            </a:avLst>
          </a:prstGeom>
          <a:solidFill>
            <a:srgbClr val="0D1F35"/>
          </a:solidFill>
          <a:ln w="8890">
            <a:solidFill>
              <a:srgbClr val="0D1F35"/>
            </a:solidFill>
            <a:prstDash val="solid"/>
          </a:ln>
        </p:spPr>
      </p:sp>
      <p:sp>
        <p:nvSpPr>
          <p:cNvPr id="40" name="Text 38"/>
          <p:cNvSpPr/>
          <p:nvPr/>
        </p:nvSpPr>
        <p:spPr>
          <a:xfrm>
            <a:off x="5468112" y="3383280"/>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111</a:t>
            </a:r>
            <a:endParaRPr lang="en-US" sz="1400" dirty="0"/>
          </a:p>
        </p:txBody>
      </p:sp>
      <p:sp>
        <p:nvSpPr>
          <p:cNvPr id="41" name="Shape 39"/>
          <p:cNvSpPr/>
          <p:nvPr/>
        </p:nvSpPr>
        <p:spPr>
          <a:xfrm>
            <a:off x="6958584" y="3351276"/>
            <a:ext cx="1481328" cy="352044"/>
          </a:xfrm>
          <a:prstGeom prst="roundRect">
            <a:avLst>
              <a:gd name="adj" fmla="val 46753"/>
            </a:avLst>
          </a:prstGeom>
          <a:solidFill>
            <a:srgbClr val="0D1F35"/>
          </a:solidFill>
          <a:ln w="8890">
            <a:solidFill>
              <a:srgbClr val="0D1F35"/>
            </a:solidFill>
            <a:prstDash val="solid"/>
          </a:ln>
        </p:spPr>
      </p:sp>
      <p:sp>
        <p:nvSpPr>
          <p:cNvPr id="42" name="Text 40"/>
          <p:cNvSpPr/>
          <p:nvPr/>
        </p:nvSpPr>
        <p:spPr>
          <a:xfrm>
            <a:off x="7004304" y="3383280"/>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101</a:t>
            </a:r>
            <a:endParaRPr lang="en-US" sz="1400" dirty="0"/>
          </a:p>
        </p:txBody>
      </p:sp>
      <p:sp>
        <p:nvSpPr>
          <p:cNvPr id="43" name="Shape 41"/>
          <p:cNvSpPr/>
          <p:nvPr/>
        </p:nvSpPr>
        <p:spPr>
          <a:xfrm>
            <a:off x="557784" y="3721608"/>
            <a:ext cx="1261872" cy="352044"/>
          </a:xfrm>
          <a:prstGeom prst="roundRect">
            <a:avLst>
              <a:gd name="adj" fmla="val 46753"/>
            </a:avLst>
          </a:prstGeom>
          <a:solidFill>
            <a:srgbClr val="10233C"/>
          </a:solidFill>
          <a:ln w="8890">
            <a:solidFill>
              <a:srgbClr val="0D1F35"/>
            </a:solidFill>
            <a:prstDash val="solid"/>
          </a:ln>
        </p:spPr>
      </p:sp>
      <p:sp>
        <p:nvSpPr>
          <p:cNvPr id="44" name="Text 42"/>
          <p:cNvSpPr/>
          <p:nvPr/>
        </p:nvSpPr>
        <p:spPr>
          <a:xfrm>
            <a:off x="603504" y="3753612"/>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010</a:t>
            </a:r>
            <a:endParaRPr lang="en-US" sz="1400" dirty="0"/>
          </a:p>
        </p:txBody>
      </p:sp>
      <p:sp>
        <p:nvSpPr>
          <p:cNvPr id="45" name="Shape 43"/>
          <p:cNvSpPr/>
          <p:nvPr/>
        </p:nvSpPr>
        <p:spPr>
          <a:xfrm>
            <a:off x="1865376" y="3721608"/>
            <a:ext cx="1581912" cy="352044"/>
          </a:xfrm>
          <a:prstGeom prst="roundRect">
            <a:avLst>
              <a:gd name="adj" fmla="val 46753"/>
            </a:avLst>
          </a:prstGeom>
          <a:solidFill>
            <a:srgbClr val="10233C"/>
          </a:solidFill>
          <a:ln w="8890">
            <a:solidFill>
              <a:srgbClr val="0D1F35"/>
            </a:solidFill>
            <a:prstDash val="solid"/>
          </a:ln>
        </p:spPr>
      </p:sp>
      <p:sp>
        <p:nvSpPr>
          <p:cNvPr id="46" name="Text 44"/>
          <p:cNvSpPr/>
          <p:nvPr/>
        </p:nvSpPr>
        <p:spPr>
          <a:xfrm>
            <a:off x="1911096" y="3753612"/>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011</a:t>
            </a:r>
            <a:endParaRPr lang="en-US" sz="1400" dirty="0"/>
          </a:p>
        </p:txBody>
      </p:sp>
      <p:sp>
        <p:nvSpPr>
          <p:cNvPr id="47" name="Shape 45"/>
          <p:cNvSpPr/>
          <p:nvPr/>
        </p:nvSpPr>
        <p:spPr>
          <a:xfrm>
            <a:off x="3493008" y="3721608"/>
            <a:ext cx="1883664" cy="352044"/>
          </a:xfrm>
          <a:prstGeom prst="roundRect">
            <a:avLst>
              <a:gd name="adj" fmla="val 46753"/>
            </a:avLst>
          </a:prstGeom>
          <a:solidFill>
            <a:srgbClr val="10233C"/>
          </a:solidFill>
          <a:ln w="8890">
            <a:solidFill>
              <a:srgbClr val="0D1F35"/>
            </a:solidFill>
            <a:prstDash val="solid"/>
          </a:ln>
        </p:spPr>
      </p:sp>
      <p:sp>
        <p:nvSpPr>
          <p:cNvPr id="48" name="Text 46"/>
          <p:cNvSpPr/>
          <p:nvPr/>
        </p:nvSpPr>
        <p:spPr>
          <a:xfrm>
            <a:off x="3538728" y="3753612"/>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111</a:t>
            </a:r>
            <a:endParaRPr lang="en-US" sz="1400" dirty="0"/>
          </a:p>
        </p:txBody>
      </p:sp>
      <p:sp>
        <p:nvSpPr>
          <p:cNvPr id="49" name="Shape 47"/>
          <p:cNvSpPr/>
          <p:nvPr/>
        </p:nvSpPr>
        <p:spPr>
          <a:xfrm>
            <a:off x="5422392" y="3721608"/>
            <a:ext cx="1490472" cy="352044"/>
          </a:xfrm>
          <a:prstGeom prst="roundRect">
            <a:avLst>
              <a:gd name="adj" fmla="val 46753"/>
            </a:avLst>
          </a:prstGeom>
          <a:solidFill>
            <a:srgbClr val="10233C"/>
          </a:solidFill>
          <a:ln w="8890">
            <a:solidFill>
              <a:srgbClr val="0D1F35"/>
            </a:solidFill>
            <a:prstDash val="solid"/>
          </a:ln>
        </p:spPr>
      </p:sp>
      <p:sp>
        <p:nvSpPr>
          <p:cNvPr id="50" name="Text 48"/>
          <p:cNvSpPr/>
          <p:nvPr/>
        </p:nvSpPr>
        <p:spPr>
          <a:xfrm>
            <a:off x="5468112" y="3753612"/>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100</a:t>
            </a:r>
            <a:endParaRPr lang="en-US" sz="1400" dirty="0"/>
          </a:p>
        </p:txBody>
      </p:sp>
      <p:sp>
        <p:nvSpPr>
          <p:cNvPr id="51" name="Shape 49"/>
          <p:cNvSpPr/>
          <p:nvPr/>
        </p:nvSpPr>
        <p:spPr>
          <a:xfrm>
            <a:off x="6958584" y="3721608"/>
            <a:ext cx="1481328" cy="352044"/>
          </a:xfrm>
          <a:prstGeom prst="roundRect">
            <a:avLst>
              <a:gd name="adj" fmla="val 46753"/>
            </a:avLst>
          </a:prstGeom>
          <a:solidFill>
            <a:srgbClr val="10233C"/>
          </a:solidFill>
          <a:ln w="8890">
            <a:solidFill>
              <a:srgbClr val="0D1F35"/>
            </a:solidFill>
            <a:prstDash val="solid"/>
          </a:ln>
        </p:spPr>
      </p:sp>
      <p:sp>
        <p:nvSpPr>
          <p:cNvPr id="52" name="Text 50"/>
          <p:cNvSpPr/>
          <p:nvPr/>
        </p:nvSpPr>
        <p:spPr>
          <a:xfrm>
            <a:off x="7004304" y="3753612"/>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111</a:t>
            </a:r>
            <a:endParaRPr lang="en-US" sz="1400" dirty="0"/>
          </a:p>
        </p:txBody>
      </p:sp>
      <p:sp>
        <p:nvSpPr>
          <p:cNvPr id="53" name="Shape 51"/>
          <p:cNvSpPr/>
          <p:nvPr/>
        </p:nvSpPr>
        <p:spPr>
          <a:xfrm>
            <a:off x="557784" y="4091940"/>
            <a:ext cx="1261872" cy="352044"/>
          </a:xfrm>
          <a:prstGeom prst="roundRect">
            <a:avLst>
              <a:gd name="adj" fmla="val 46753"/>
            </a:avLst>
          </a:prstGeom>
          <a:solidFill>
            <a:srgbClr val="0D1F35"/>
          </a:solidFill>
          <a:ln w="8890">
            <a:solidFill>
              <a:srgbClr val="0D1F35"/>
            </a:solidFill>
            <a:prstDash val="solid"/>
          </a:ln>
        </p:spPr>
      </p:sp>
      <p:sp>
        <p:nvSpPr>
          <p:cNvPr id="54" name="Text 52"/>
          <p:cNvSpPr/>
          <p:nvPr/>
        </p:nvSpPr>
        <p:spPr>
          <a:xfrm>
            <a:off x="603504" y="4123944"/>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011</a:t>
            </a:r>
            <a:endParaRPr lang="en-US" sz="1400" dirty="0"/>
          </a:p>
        </p:txBody>
      </p:sp>
      <p:sp>
        <p:nvSpPr>
          <p:cNvPr id="55" name="Shape 53"/>
          <p:cNvSpPr/>
          <p:nvPr/>
        </p:nvSpPr>
        <p:spPr>
          <a:xfrm>
            <a:off x="1865376" y="4091940"/>
            <a:ext cx="1581912" cy="352044"/>
          </a:xfrm>
          <a:prstGeom prst="roundRect">
            <a:avLst>
              <a:gd name="adj" fmla="val 46753"/>
            </a:avLst>
          </a:prstGeom>
          <a:solidFill>
            <a:srgbClr val="0D1F35"/>
          </a:solidFill>
          <a:ln w="8890">
            <a:solidFill>
              <a:srgbClr val="0D1F35"/>
            </a:solidFill>
            <a:prstDash val="solid"/>
          </a:ln>
        </p:spPr>
      </p:sp>
      <p:sp>
        <p:nvSpPr>
          <p:cNvPr id="56" name="Text 54"/>
          <p:cNvSpPr/>
          <p:nvPr/>
        </p:nvSpPr>
        <p:spPr>
          <a:xfrm>
            <a:off x="1911096" y="4123944"/>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101</a:t>
            </a:r>
            <a:endParaRPr lang="en-US" sz="1400" dirty="0"/>
          </a:p>
        </p:txBody>
      </p:sp>
      <p:sp>
        <p:nvSpPr>
          <p:cNvPr id="57" name="Shape 55"/>
          <p:cNvSpPr/>
          <p:nvPr/>
        </p:nvSpPr>
        <p:spPr>
          <a:xfrm>
            <a:off x="3493008" y="4091940"/>
            <a:ext cx="1883664" cy="352044"/>
          </a:xfrm>
          <a:prstGeom prst="roundRect">
            <a:avLst>
              <a:gd name="adj" fmla="val 46753"/>
            </a:avLst>
          </a:prstGeom>
          <a:solidFill>
            <a:srgbClr val="0D1F35"/>
          </a:solidFill>
          <a:ln w="8890">
            <a:solidFill>
              <a:srgbClr val="0D1F35"/>
            </a:solidFill>
            <a:prstDash val="solid"/>
          </a:ln>
        </p:spPr>
      </p:sp>
      <p:sp>
        <p:nvSpPr>
          <p:cNvPr id="58" name="Text 56"/>
          <p:cNvSpPr/>
          <p:nvPr/>
        </p:nvSpPr>
        <p:spPr>
          <a:xfrm>
            <a:off x="3538728" y="4123944"/>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110</a:t>
            </a:r>
            <a:endParaRPr lang="en-US" sz="1400" dirty="0"/>
          </a:p>
        </p:txBody>
      </p:sp>
      <p:sp>
        <p:nvSpPr>
          <p:cNvPr id="59" name="Shape 57"/>
          <p:cNvSpPr/>
          <p:nvPr/>
        </p:nvSpPr>
        <p:spPr>
          <a:xfrm>
            <a:off x="5422392" y="4091940"/>
            <a:ext cx="1490472" cy="352044"/>
          </a:xfrm>
          <a:prstGeom prst="roundRect">
            <a:avLst>
              <a:gd name="adj" fmla="val 46753"/>
            </a:avLst>
          </a:prstGeom>
          <a:solidFill>
            <a:srgbClr val="0D1F35"/>
          </a:solidFill>
          <a:ln w="8890">
            <a:solidFill>
              <a:srgbClr val="0D1F35"/>
            </a:solidFill>
            <a:prstDash val="solid"/>
          </a:ln>
        </p:spPr>
      </p:sp>
      <p:sp>
        <p:nvSpPr>
          <p:cNvPr id="60" name="Text 58"/>
          <p:cNvSpPr/>
          <p:nvPr/>
        </p:nvSpPr>
        <p:spPr>
          <a:xfrm>
            <a:off x="5468112" y="4123944"/>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101</a:t>
            </a:r>
            <a:endParaRPr lang="en-US" sz="1400" dirty="0"/>
          </a:p>
        </p:txBody>
      </p:sp>
      <p:sp>
        <p:nvSpPr>
          <p:cNvPr id="61" name="Shape 59"/>
          <p:cNvSpPr/>
          <p:nvPr/>
        </p:nvSpPr>
        <p:spPr>
          <a:xfrm>
            <a:off x="6958584" y="4091940"/>
            <a:ext cx="1481328" cy="352044"/>
          </a:xfrm>
          <a:prstGeom prst="roundRect">
            <a:avLst>
              <a:gd name="adj" fmla="val 46753"/>
            </a:avLst>
          </a:prstGeom>
          <a:solidFill>
            <a:srgbClr val="0D1F35"/>
          </a:solidFill>
          <a:ln w="8890">
            <a:solidFill>
              <a:srgbClr val="0D1F35"/>
            </a:solidFill>
            <a:prstDash val="solid"/>
          </a:ln>
        </p:spPr>
      </p:sp>
      <p:sp>
        <p:nvSpPr>
          <p:cNvPr id="62" name="Text 60"/>
          <p:cNvSpPr/>
          <p:nvPr/>
        </p:nvSpPr>
        <p:spPr>
          <a:xfrm>
            <a:off x="7004304" y="4123944"/>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000</a:t>
            </a:r>
            <a:endParaRPr lang="en-US" sz="1400" dirty="0"/>
          </a:p>
        </p:txBody>
      </p:sp>
      <p:sp>
        <p:nvSpPr>
          <p:cNvPr id="63" name="Shape 61"/>
          <p:cNvSpPr/>
          <p:nvPr/>
        </p:nvSpPr>
        <p:spPr>
          <a:xfrm>
            <a:off x="557784" y="4462272"/>
            <a:ext cx="1261872" cy="352044"/>
          </a:xfrm>
          <a:prstGeom prst="roundRect">
            <a:avLst>
              <a:gd name="adj" fmla="val 46753"/>
            </a:avLst>
          </a:prstGeom>
          <a:solidFill>
            <a:srgbClr val="10233C"/>
          </a:solidFill>
          <a:ln w="8890">
            <a:solidFill>
              <a:srgbClr val="0D1F35"/>
            </a:solidFill>
            <a:prstDash val="solid"/>
          </a:ln>
        </p:spPr>
      </p:sp>
      <p:sp>
        <p:nvSpPr>
          <p:cNvPr id="64" name="Text 62"/>
          <p:cNvSpPr/>
          <p:nvPr/>
        </p:nvSpPr>
        <p:spPr>
          <a:xfrm>
            <a:off x="603504" y="4494276"/>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100</a:t>
            </a:r>
            <a:endParaRPr lang="en-US" sz="1400" dirty="0"/>
          </a:p>
        </p:txBody>
      </p:sp>
      <p:sp>
        <p:nvSpPr>
          <p:cNvPr id="65" name="Shape 63"/>
          <p:cNvSpPr/>
          <p:nvPr/>
        </p:nvSpPr>
        <p:spPr>
          <a:xfrm>
            <a:off x="1865376" y="4462272"/>
            <a:ext cx="1581912" cy="352044"/>
          </a:xfrm>
          <a:prstGeom prst="roundRect">
            <a:avLst>
              <a:gd name="adj" fmla="val 46753"/>
            </a:avLst>
          </a:prstGeom>
          <a:solidFill>
            <a:srgbClr val="10233C"/>
          </a:solidFill>
          <a:ln w="8890">
            <a:solidFill>
              <a:srgbClr val="0D1F35"/>
            </a:solidFill>
            <a:prstDash val="solid"/>
          </a:ln>
        </p:spPr>
      </p:sp>
      <p:sp>
        <p:nvSpPr>
          <p:cNvPr id="66" name="Text 64"/>
          <p:cNvSpPr/>
          <p:nvPr/>
        </p:nvSpPr>
        <p:spPr>
          <a:xfrm>
            <a:off x="1911096" y="4494276"/>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100</a:t>
            </a:r>
            <a:endParaRPr lang="en-US" sz="1400" dirty="0"/>
          </a:p>
        </p:txBody>
      </p:sp>
      <p:sp>
        <p:nvSpPr>
          <p:cNvPr id="67" name="Shape 65"/>
          <p:cNvSpPr/>
          <p:nvPr/>
        </p:nvSpPr>
        <p:spPr>
          <a:xfrm>
            <a:off x="3493008" y="4462272"/>
            <a:ext cx="1883664" cy="352044"/>
          </a:xfrm>
          <a:prstGeom prst="roundRect">
            <a:avLst>
              <a:gd name="adj" fmla="val 46753"/>
            </a:avLst>
          </a:prstGeom>
          <a:solidFill>
            <a:srgbClr val="10233C"/>
          </a:solidFill>
          <a:ln w="8890">
            <a:solidFill>
              <a:srgbClr val="0D1F35"/>
            </a:solidFill>
            <a:prstDash val="solid"/>
          </a:ln>
        </p:spPr>
      </p:sp>
      <p:sp>
        <p:nvSpPr>
          <p:cNvPr id="68" name="Text 66"/>
          <p:cNvSpPr/>
          <p:nvPr/>
        </p:nvSpPr>
        <p:spPr>
          <a:xfrm>
            <a:off x="3538728" y="4494276"/>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001</a:t>
            </a:r>
            <a:endParaRPr lang="en-US" sz="1400" dirty="0"/>
          </a:p>
        </p:txBody>
      </p:sp>
      <p:sp>
        <p:nvSpPr>
          <p:cNvPr id="69" name="Shape 67"/>
          <p:cNvSpPr/>
          <p:nvPr/>
        </p:nvSpPr>
        <p:spPr>
          <a:xfrm>
            <a:off x="5422392" y="4462272"/>
            <a:ext cx="1490472" cy="352044"/>
          </a:xfrm>
          <a:prstGeom prst="roundRect">
            <a:avLst>
              <a:gd name="adj" fmla="val 46753"/>
            </a:avLst>
          </a:prstGeom>
          <a:solidFill>
            <a:srgbClr val="10233C"/>
          </a:solidFill>
          <a:ln w="8890">
            <a:solidFill>
              <a:srgbClr val="0D1F35"/>
            </a:solidFill>
            <a:prstDash val="solid"/>
          </a:ln>
        </p:spPr>
      </p:sp>
      <p:sp>
        <p:nvSpPr>
          <p:cNvPr id="70" name="Text 68"/>
          <p:cNvSpPr/>
          <p:nvPr/>
        </p:nvSpPr>
        <p:spPr>
          <a:xfrm>
            <a:off x="5468112" y="4494276"/>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001</a:t>
            </a:r>
            <a:endParaRPr lang="en-US" sz="1400" dirty="0"/>
          </a:p>
        </p:txBody>
      </p:sp>
      <p:sp>
        <p:nvSpPr>
          <p:cNvPr id="71" name="Shape 69"/>
          <p:cNvSpPr/>
          <p:nvPr/>
        </p:nvSpPr>
        <p:spPr>
          <a:xfrm>
            <a:off x="6958584" y="4462272"/>
            <a:ext cx="1481328" cy="352044"/>
          </a:xfrm>
          <a:prstGeom prst="roundRect">
            <a:avLst>
              <a:gd name="adj" fmla="val 46753"/>
            </a:avLst>
          </a:prstGeom>
          <a:solidFill>
            <a:srgbClr val="10233C"/>
          </a:solidFill>
          <a:ln w="8890">
            <a:solidFill>
              <a:srgbClr val="0D1F35"/>
            </a:solidFill>
            <a:prstDash val="solid"/>
          </a:ln>
        </p:spPr>
      </p:sp>
      <p:sp>
        <p:nvSpPr>
          <p:cNvPr id="72" name="Text 70"/>
          <p:cNvSpPr/>
          <p:nvPr/>
        </p:nvSpPr>
        <p:spPr>
          <a:xfrm>
            <a:off x="7004304" y="4494276"/>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101</a:t>
            </a:r>
            <a:endParaRPr lang="en-US" sz="1400" dirty="0"/>
          </a:p>
        </p:txBody>
      </p:sp>
      <p:sp>
        <p:nvSpPr>
          <p:cNvPr id="73" name="Shape 71"/>
          <p:cNvSpPr/>
          <p:nvPr/>
        </p:nvSpPr>
        <p:spPr>
          <a:xfrm>
            <a:off x="557784" y="4832604"/>
            <a:ext cx="1261872" cy="352044"/>
          </a:xfrm>
          <a:prstGeom prst="roundRect">
            <a:avLst>
              <a:gd name="adj" fmla="val 46753"/>
            </a:avLst>
          </a:prstGeom>
          <a:solidFill>
            <a:srgbClr val="0D1F35"/>
          </a:solidFill>
          <a:ln w="8890">
            <a:solidFill>
              <a:srgbClr val="0D1F35"/>
            </a:solidFill>
            <a:prstDash val="solid"/>
          </a:ln>
        </p:spPr>
      </p:sp>
      <p:sp>
        <p:nvSpPr>
          <p:cNvPr id="74" name="Text 72"/>
          <p:cNvSpPr/>
          <p:nvPr/>
        </p:nvSpPr>
        <p:spPr>
          <a:xfrm>
            <a:off x="603504" y="4864608"/>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101</a:t>
            </a:r>
            <a:endParaRPr lang="en-US" sz="1400" dirty="0"/>
          </a:p>
        </p:txBody>
      </p:sp>
      <p:sp>
        <p:nvSpPr>
          <p:cNvPr id="75" name="Shape 73"/>
          <p:cNvSpPr/>
          <p:nvPr/>
        </p:nvSpPr>
        <p:spPr>
          <a:xfrm>
            <a:off x="1865376" y="4832604"/>
            <a:ext cx="1581912" cy="352044"/>
          </a:xfrm>
          <a:prstGeom prst="roundRect">
            <a:avLst>
              <a:gd name="adj" fmla="val 46753"/>
            </a:avLst>
          </a:prstGeom>
          <a:solidFill>
            <a:srgbClr val="0D1F35"/>
          </a:solidFill>
          <a:ln w="8890">
            <a:solidFill>
              <a:srgbClr val="0D1F35"/>
            </a:solidFill>
            <a:prstDash val="solid"/>
          </a:ln>
        </p:spPr>
      </p:sp>
      <p:sp>
        <p:nvSpPr>
          <p:cNvPr id="76" name="Text 74"/>
          <p:cNvSpPr/>
          <p:nvPr/>
        </p:nvSpPr>
        <p:spPr>
          <a:xfrm>
            <a:off x="1911096" y="4864608"/>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001</a:t>
            </a:r>
            <a:endParaRPr lang="en-US" sz="1400" dirty="0"/>
          </a:p>
        </p:txBody>
      </p:sp>
      <p:sp>
        <p:nvSpPr>
          <p:cNvPr id="77" name="Shape 75"/>
          <p:cNvSpPr/>
          <p:nvPr/>
        </p:nvSpPr>
        <p:spPr>
          <a:xfrm>
            <a:off x="3493008" y="4832604"/>
            <a:ext cx="1883664" cy="352044"/>
          </a:xfrm>
          <a:prstGeom prst="roundRect">
            <a:avLst>
              <a:gd name="adj" fmla="val 46753"/>
            </a:avLst>
          </a:prstGeom>
          <a:solidFill>
            <a:srgbClr val="0D1F35"/>
          </a:solidFill>
          <a:ln w="8890">
            <a:solidFill>
              <a:srgbClr val="0D1F35"/>
            </a:solidFill>
            <a:prstDash val="solid"/>
          </a:ln>
        </p:spPr>
      </p:sp>
      <p:sp>
        <p:nvSpPr>
          <p:cNvPr id="78" name="Text 76"/>
          <p:cNvSpPr/>
          <p:nvPr/>
        </p:nvSpPr>
        <p:spPr>
          <a:xfrm>
            <a:off x="3538728" y="4864608"/>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000</a:t>
            </a:r>
            <a:endParaRPr lang="en-US" sz="1400" dirty="0"/>
          </a:p>
        </p:txBody>
      </p:sp>
      <p:sp>
        <p:nvSpPr>
          <p:cNvPr id="79" name="Shape 77"/>
          <p:cNvSpPr/>
          <p:nvPr/>
        </p:nvSpPr>
        <p:spPr>
          <a:xfrm>
            <a:off x="5422392" y="4832604"/>
            <a:ext cx="1490472" cy="352044"/>
          </a:xfrm>
          <a:prstGeom prst="roundRect">
            <a:avLst>
              <a:gd name="adj" fmla="val 46753"/>
            </a:avLst>
          </a:prstGeom>
          <a:solidFill>
            <a:srgbClr val="0D1F35"/>
          </a:solidFill>
          <a:ln w="8890">
            <a:solidFill>
              <a:srgbClr val="0D1F35"/>
            </a:solidFill>
            <a:prstDash val="solid"/>
          </a:ln>
        </p:spPr>
      </p:sp>
      <p:sp>
        <p:nvSpPr>
          <p:cNvPr id="80" name="Text 78"/>
          <p:cNvSpPr/>
          <p:nvPr/>
        </p:nvSpPr>
        <p:spPr>
          <a:xfrm>
            <a:off x="5468112" y="4864608"/>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011</a:t>
            </a:r>
            <a:endParaRPr lang="en-US" sz="1400" dirty="0"/>
          </a:p>
        </p:txBody>
      </p:sp>
      <p:sp>
        <p:nvSpPr>
          <p:cNvPr id="81" name="Shape 79"/>
          <p:cNvSpPr/>
          <p:nvPr/>
        </p:nvSpPr>
        <p:spPr>
          <a:xfrm>
            <a:off x="6958584" y="4832604"/>
            <a:ext cx="1481328" cy="352044"/>
          </a:xfrm>
          <a:prstGeom prst="roundRect">
            <a:avLst>
              <a:gd name="adj" fmla="val 46753"/>
            </a:avLst>
          </a:prstGeom>
          <a:solidFill>
            <a:srgbClr val="0D1F35"/>
          </a:solidFill>
          <a:ln w="8890">
            <a:solidFill>
              <a:srgbClr val="0D1F35"/>
            </a:solidFill>
            <a:prstDash val="solid"/>
          </a:ln>
        </p:spPr>
      </p:sp>
      <p:sp>
        <p:nvSpPr>
          <p:cNvPr id="82" name="Text 80"/>
          <p:cNvSpPr/>
          <p:nvPr/>
        </p:nvSpPr>
        <p:spPr>
          <a:xfrm>
            <a:off x="7004304" y="4864608"/>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010</a:t>
            </a:r>
            <a:endParaRPr lang="en-US" sz="1400" dirty="0"/>
          </a:p>
        </p:txBody>
      </p:sp>
      <p:sp>
        <p:nvSpPr>
          <p:cNvPr id="83" name="Shape 81"/>
          <p:cNvSpPr/>
          <p:nvPr/>
        </p:nvSpPr>
        <p:spPr>
          <a:xfrm>
            <a:off x="557784" y="5202936"/>
            <a:ext cx="1261872" cy="352044"/>
          </a:xfrm>
          <a:prstGeom prst="roundRect">
            <a:avLst>
              <a:gd name="adj" fmla="val 46753"/>
            </a:avLst>
          </a:prstGeom>
          <a:solidFill>
            <a:srgbClr val="10233C"/>
          </a:solidFill>
          <a:ln w="8890">
            <a:solidFill>
              <a:srgbClr val="0D1F35"/>
            </a:solidFill>
            <a:prstDash val="solid"/>
          </a:ln>
        </p:spPr>
      </p:sp>
      <p:sp>
        <p:nvSpPr>
          <p:cNvPr id="84" name="Text 82"/>
          <p:cNvSpPr/>
          <p:nvPr/>
        </p:nvSpPr>
        <p:spPr>
          <a:xfrm>
            <a:off x="603504" y="5234940"/>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110</a:t>
            </a:r>
            <a:endParaRPr lang="en-US" sz="1400" dirty="0"/>
          </a:p>
        </p:txBody>
      </p:sp>
      <p:sp>
        <p:nvSpPr>
          <p:cNvPr id="85" name="Shape 83"/>
          <p:cNvSpPr/>
          <p:nvPr/>
        </p:nvSpPr>
        <p:spPr>
          <a:xfrm>
            <a:off x="1865376" y="5202936"/>
            <a:ext cx="1581912" cy="352044"/>
          </a:xfrm>
          <a:prstGeom prst="roundRect">
            <a:avLst>
              <a:gd name="adj" fmla="val 46753"/>
            </a:avLst>
          </a:prstGeom>
          <a:solidFill>
            <a:srgbClr val="10233C"/>
          </a:solidFill>
          <a:ln w="8890">
            <a:solidFill>
              <a:srgbClr val="0D1F35"/>
            </a:solidFill>
            <a:prstDash val="solid"/>
          </a:ln>
        </p:spPr>
      </p:sp>
      <p:sp>
        <p:nvSpPr>
          <p:cNvPr id="86" name="Text 84"/>
          <p:cNvSpPr/>
          <p:nvPr/>
        </p:nvSpPr>
        <p:spPr>
          <a:xfrm>
            <a:off x="1911096" y="5234940"/>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110</a:t>
            </a:r>
            <a:endParaRPr lang="en-US" sz="1400" dirty="0"/>
          </a:p>
        </p:txBody>
      </p:sp>
      <p:sp>
        <p:nvSpPr>
          <p:cNvPr id="87" name="Shape 85"/>
          <p:cNvSpPr/>
          <p:nvPr/>
        </p:nvSpPr>
        <p:spPr>
          <a:xfrm>
            <a:off x="3493008" y="5202936"/>
            <a:ext cx="1883664" cy="352044"/>
          </a:xfrm>
          <a:prstGeom prst="roundRect">
            <a:avLst>
              <a:gd name="adj" fmla="val 46753"/>
            </a:avLst>
          </a:prstGeom>
          <a:solidFill>
            <a:srgbClr val="10233C"/>
          </a:solidFill>
          <a:ln w="8890">
            <a:solidFill>
              <a:srgbClr val="0D1F35"/>
            </a:solidFill>
            <a:prstDash val="solid"/>
          </a:ln>
        </p:spPr>
      </p:sp>
      <p:sp>
        <p:nvSpPr>
          <p:cNvPr id="88" name="Text 86"/>
          <p:cNvSpPr/>
          <p:nvPr/>
        </p:nvSpPr>
        <p:spPr>
          <a:xfrm>
            <a:off x="3538728" y="5234940"/>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011</a:t>
            </a:r>
            <a:endParaRPr lang="en-US" sz="1400" dirty="0"/>
          </a:p>
        </p:txBody>
      </p:sp>
      <p:sp>
        <p:nvSpPr>
          <p:cNvPr id="89" name="Shape 87"/>
          <p:cNvSpPr/>
          <p:nvPr/>
        </p:nvSpPr>
        <p:spPr>
          <a:xfrm>
            <a:off x="5422392" y="5202936"/>
            <a:ext cx="1490472" cy="352044"/>
          </a:xfrm>
          <a:prstGeom prst="roundRect">
            <a:avLst>
              <a:gd name="adj" fmla="val 46753"/>
            </a:avLst>
          </a:prstGeom>
          <a:solidFill>
            <a:srgbClr val="10233C"/>
          </a:solidFill>
          <a:ln w="8890">
            <a:solidFill>
              <a:srgbClr val="0D1F35"/>
            </a:solidFill>
            <a:prstDash val="solid"/>
          </a:ln>
        </p:spPr>
      </p:sp>
      <p:sp>
        <p:nvSpPr>
          <p:cNvPr id="90" name="Text 88"/>
          <p:cNvSpPr/>
          <p:nvPr/>
        </p:nvSpPr>
        <p:spPr>
          <a:xfrm>
            <a:off x="5468112" y="5234940"/>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110</a:t>
            </a:r>
            <a:endParaRPr lang="en-US" sz="1400" dirty="0"/>
          </a:p>
        </p:txBody>
      </p:sp>
      <p:sp>
        <p:nvSpPr>
          <p:cNvPr id="91" name="Shape 89"/>
          <p:cNvSpPr/>
          <p:nvPr/>
        </p:nvSpPr>
        <p:spPr>
          <a:xfrm>
            <a:off x="6958584" y="5202936"/>
            <a:ext cx="1481328" cy="352044"/>
          </a:xfrm>
          <a:prstGeom prst="roundRect">
            <a:avLst>
              <a:gd name="adj" fmla="val 46753"/>
            </a:avLst>
          </a:prstGeom>
          <a:solidFill>
            <a:srgbClr val="10233C"/>
          </a:solidFill>
          <a:ln w="8890">
            <a:solidFill>
              <a:srgbClr val="0D1F35"/>
            </a:solidFill>
            <a:prstDash val="solid"/>
          </a:ln>
        </p:spPr>
      </p:sp>
      <p:sp>
        <p:nvSpPr>
          <p:cNvPr id="92" name="Text 90"/>
          <p:cNvSpPr/>
          <p:nvPr/>
        </p:nvSpPr>
        <p:spPr>
          <a:xfrm>
            <a:off x="7004304" y="5234940"/>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000</a:t>
            </a:r>
            <a:endParaRPr lang="en-US" sz="1400" dirty="0"/>
          </a:p>
        </p:txBody>
      </p:sp>
      <p:sp>
        <p:nvSpPr>
          <p:cNvPr id="93" name="Shape 91"/>
          <p:cNvSpPr/>
          <p:nvPr/>
        </p:nvSpPr>
        <p:spPr>
          <a:xfrm>
            <a:off x="557784" y="5573268"/>
            <a:ext cx="1261872" cy="352044"/>
          </a:xfrm>
          <a:prstGeom prst="roundRect">
            <a:avLst>
              <a:gd name="adj" fmla="val 46753"/>
            </a:avLst>
          </a:prstGeom>
          <a:solidFill>
            <a:srgbClr val="0D1F35"/>
          </a:solidFill>
          <a:ln w="8890">
            <a:solidFill>
              <a:srgbClr val="0D1F35"/>
            </a:solidFill>
            <a:prstDash val="solid"/>
          </a:ln>
        </p:spPr>
      </p:sp>
      <p:sp>
        <p:nvSpPr>
          <p:cNvPr id="94" name="Text 92"/>
          <p:cNvSpPr/>
          <p:nvPr/>
        </p:nvSpPr>
        <p:spPr>
          <a:xfrm>
            <a:off x="603504" y="5605272"/>
            <a:ext cx="11795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111</a:t>
            </a:r>
            <a:endParaRPr lang="en-US" sz="1400" dirty="0"/>
          </a:p>
        </p:txBody>
      </p:sp>
      <p:sp>
        <p:nvSpPr>
          <p:cNvPr id="95" name="Shape 93"/>
          <p:cNvSpPr/>
          <p:nvPr/>
        </p:nvSpPr>
        <p:spPr>
          <a:xfrm>
            <a:off x="1865376" y="5573268"/>
            <a:ext cx="1581912" cy="352044"/>
          </a:xfrm>
          <a:prstGeom prst="roundRect">
            <a:avLst>
              <a:gd name="adj" fmla="val 46753"/>
            </a:avLst>
          </a:prstGeom>
          <a:solidFill>
            <a:srgbClr val="0D1F35"/>
          </a:solidFill>
          <a:ln w="8890">
            <a:solidFill>
              <a:srgbClr val="0D1F35"/>
            </a:solidFill>
            <a:prstDash val="solid"/>
          </a:ln>
        </p:spPr>
      </p:sp>
      <p:sp>
        <p:nvSpPr>
          <p:cNvPr id="96" name="Text 94"/>
          <p:cNvSpPr/>
          <p:nvPr/>
        </p:nvSpPr>
        <p:spPr>
          <a:xfrm>
            <a:off x="1911096" y="5605272"/>
            <a:ext cx="149961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111</a:t>
            </a:r>
            <a:endParaRPr lang="en-US" sz="1400" dirty="0"/>
          </a:p>
        </p:txBody>
      </p:sp>
      <p:sp>
        <p:nvSpPr>
          <p:cNvPr id="97" name="Shape 95"/>
          <p:cNvSpPr/>
          <p:nvPr/>
        </p:nvSpPr>
        <p:spPr>
          <a:xfrm>
            <a:off x="3493008" y="5573268"/>
            <a:ext cx="1883664" cy="352044"/>
          </a:xfrm>
          <a:prstGeom prst="roundRect">
            <a:avLst>
              <a:gd name="adj" fmla="val 46753"/>
            </a:avLst>
          </a:prstGeom>
          <a:solidFill>
            <a:srgbClr val="0D1F35"/>
          </a:solidFill>
          <a:ln w="8890">
            <a:solidFill>
              <a:srgbClr val="0D1F35"/>
            </a:solidFill>
            <a:prstDash val="solid"/>
          </a:ln>
        </p:spPr>
      </p:sp>
      <p:sp>
        <p:nvSpPr>
          <p:cNvPr id="98" name="Text 96"/>
          <p:cNvSpPr/>
          <p:nvPr/>
        </p:nvSpPr>
        <p:spPr>
          <a:xfrm>
            <a:off x="3538728" y="5605272"/>
            <a:ext cx="1801368"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010</a:t>
            </a:r>
            <a:endParaRPr lang="en-US" sz="1400" dirty="0"/>
          </a:p>
        </p:txBody>
      </p:sp>
      <p:sp>
        <p:nvSpPr>
          <p:cNvPr id="99" name="Shape 97"/>
          <p:cNvSpPr/>
          <p:nvPr/>
        </p:nvSpPr>
        <p:spPr>
          <a:xfrm>
            <a:off x="5422392" y="5573268"/>
            <a:ext cx="1490472" cy="352044"/>
          </a:xfrm>
          <a:prstGeom prst="roundRect">
            <a:avLst>
              <a:gd name="adj" fmla="val 46753"/>
            </a:avLst>
          </a:prstGeom>
          <a:solidFill>
            <a:srgbClr val="0D1F35"/>
          </a:solidFill>
          <a:ln w="8890">
            <a:solidFill>
              <a:srgbClr val="0D1F35"/>
            </a:solidFill>
            <a:prstDash val="solid"/>
          </a:ln>
        </p:spPr>
      </p:sp>
      <p:sp>
        <p:nvSpPr>
          <p:cNvPr id="100" name="Text 98"/>
          <p:cNvSpPr/>
          <p:nvPr/>
        </p:nvSpPr>
        <p:spPr>
          <a:xfrm>
            <a:off x="5468112" y="5605272"/>
            <a:ext cx="1408176" cy="265176"/>
          </a:xfrm>
          <a:prstGeom prst="rect">
            <a:avLst/>
          </a:prstGeom>
          <a:noFill/>
        </p:spPr>
        <p:txBody>
          <a:bodyPr wrap="square" lIns="0" tIns="0" rIns="0" bIns="0" rtlCol="0" anchor="ctr">
            <a:normAutofit/>
          </a:bodyPr>
          <a:lstStyle/>
          <a:p>
            <a:pPr marL="0" indent="0" algn="ctr">
              <a:buNone/>
            </a:pPr>
            <a:r>
              <a:rPr lang="en-US" sz="1400" dirty="0">
                <a:solidFill>
                  <a:srgbClr val="F4F9FF"/>
                </a:solidFill>
                <a:latin typeface="Aptos" pitchFamily="34" charset="0"/>
                <a:ea typeface="Aptos" pitchFamily="34" charset="-122"/>
                <a:cs typeface="Aptos" pitchFamily="34" charset="-120"/>
              </a:rPr>
              <a:t>000</a:t>
            </a:r>
            <a:endParaRPr lang="en-US" sz="1400" dirty="0"/>
          </a:p>
        </p:txBody>
      </p:sp>
      <p:sp>
        <p:nvSpPr>
          <p:cNvPr id="101" name="Shape 99"/>
          <p:cNvSpPr/>
          <p:nvPr/>
        </p:nvSpPr>
        <p:spPr>
          <a:xfrm>
            <a:off x="6958584" y="5573268"/>
            <a:ext cx="1481328" cy="352044"/>
          </a:xfrm>
          <a:prstGeom prst="roundRect">
            <a:avLst>
              <a:gd name="adj" fmla="val 46753"/>
            </a:avLst>
          </a:prstGeom>
          <a:solidFill>
            <a:srgbClr val="0D1F35"/>
          </a:solidFill>
          <a:ln w="8890">
            <a:solidFill>
              <a:srgbClr val="0D1F35"/>
            </a:solidFill>
            <a:prstDash val="solid"/>
          </a:ln>
        </p:spPr>
      </p:sp>
      <p:sp>
        <p:nvSpPr>
          <p:cNvPr id="102" name="Text 100"/>
          <p:cNvSpPr/>
          <p:nvPr/>
        </p:nvSpPr>
        <p:spPr>
          <a:xfrm>
            <a:off x="7004304" y="5605272"/>
            <a:ext cx="1399032" cy="265176"/>
          </a:xfrm>
          <a:prstGeom prst="rect">
            <a:avLst/>
          </a:prstGeom>
          <a:noFill/>
        </p:spPr>
        <p:txBody>
          <a:bodyPr wrap="square" lIns="0" tIns="0" rIns="0" bIns="0" rtlCol="0" anchor="ctr">
            <a:normAutofit/>
          </a:bodyPr>
          <a:lstStyle/>
          <a:p>
            <a:pPr marL="0" indent="0" algn="ctr">
              <a:buNone/>
            </a:pPr>
            <a:r>
              <a:rPr lang="en-US" sz="1400" b="1" dirty="0">
                <a:solidFill>
                  <a:srgbClr val="60E5A5"/>
                </a:solidFill>
                <a:latin typeface="Aptos" pitchFamily="34" charset="0"/>
                <a:ea typeface="Aptos" pitchFamily="34" charset="-122"/>
                <a:cs typeface="Aptos" pitchFamily="34" charset="-120"/>
              </a:rPr>
              <a:t>111</a:t>
            </a:r>
            <a:endParaRPr lang="en-US" sz="1400" dirty="0"/>
          </a:p>
        </p:txBody>
      </p:sp>
      <p:sp>
        <p:nvSpPr>
          <p:cNvPr id="103" name="Shape 101"/>
          <p:cNvSpPr/>
          <p:nvPr/>
        </p:nvSpPr>
        <p:spPr>
          <a:xfrm>
            <a:off x="8485632" y="2587752"/>
            <a:ext cx="3136392" cy="2423160"/>
          </a:xfrm>
          <a:prstGeom prst="roundRect">
            <a:avLst>
              <a:gd name="adj" fmla="val 6792"/>
            </a:avLst>
          </a:prstGeom>
          <a:solidFill>
            <a:srgbClr val="10233C"/>
          </a:solidFill>
          <a:ln w="8890">
            <a:solidFill>
              <a:srgbClr val="243B56"/>
            </a:solidFill>
            <a:prstDash val="solid"/>
          </a:ln>
        </p:spPr>
      </p:sp>
      <p:sp>
        <p:nvSpPr>
          <p:cNvPr id="104" name="Shape 102"/>
          <p:cNvSpPr/>
          <p:nvPr/>
        </p:nvSpPr>
        <p:spPr>
          <a:xfrm>
            <a:off x="8631936" y="2770632"/>
            <a:ext cx="36576" cy="2057400"/>
          </a:xfrm>
          <a:prstGeom prst="rect">
            <a:avLst/>
          </a:prstGeom>
          <a:solidFill>
            <a:srgbClr val="60E5A5"/>
          </a:solidFill>
          <a:ln w="12700">
            <a:solidFill>
              <a:srgbClr val="60E5A5"/>
            </a:solidFill>
            <a:prstDash val="solid"/>
          </a:ln>
        </p:spPr>
      </p:sp>
      <p:sp>
        <p:nvSpPr>
          <p:cNvPr id="105" name="Text 103"/>
          <p:cNvSpPr/>
          <p:nvPr/>
        </p:nvSpPr>
        <p:spPr>
          <a:xfrm>
            <a:off x="8814816" y="2788920"/>
            <a:ext cx="2624328"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OBSERVATION</a:t>
            </a:r>
            <a:endParaRPr lang="en-US" sz="1700" dirty="0"/>
          </a:p>
        </p:txBody>
      </p:sp>
      <p:sp>
        <p:nvSpPr>
          <p:cNvPr id="106" name="Text 104"/>
          <p:cNvSpPr/>
          <p:nvPr/>
        </p:nvSpPr>
        <p:spPr>
          <a:xfrm>
            <a:off x="8814816" y="3182112"/>
            <a:ext cx="2596896" cy="1700784"/>
          </a:xfrm>
          <a:prstGeom prst="rect">
            <a:avLst/>
          </a:prstGeom>
          <a:noFill/>
        </p:spPr>
        <p:txBody>
          <a:bodyPr wrap="square" lIns="0" tIns="0" rIns="0" bIns="0" rtlCol="0" anchor="t">
            <a:normAutofit/>
          </a:bodyPr>
          <a:lstStyle/>
          <a:p>
            <a:pPr marL="0" indent="0">
              <a:buNone/>
            </a:pPr>
            <a:r>
              <a:rPr lang="en-US" sz="1600" dirty="0">
                <a:solidFill>
                  <a:srgbClr val="AAC1D7"/>
                </a:solidFill>
                <a:latin typeface="Aptos" pitchFamily="34" charset="0"/>
                <a:ea typeface="Aptos" pitchFamily="34" charset="-122"/>
                <a:cs typeface="Aptos" pitchFamily="34" charset="-120"/>
              </a:rPr>
              <a:t>Each output f(x) occurs exactly twice. The paired input strings always differ by XOR 101.</a:t>
            </a:r>
            <a:endParaRPr lang="en-US" sz="1600" dirty="0"/>
          </a:p>
        </p:txBody>
      </p:sp>
      <p:sp>
        <p:nvSpPr>
          <p:cNvPr id="107" name="Shape 105"/>
          <p:cNvSpPr/>
          <p:nvPr/>
        </p:nvSpPr>
        <p:spPr>
          <a:xfrm>
            <a:off x="438912" y="6080760"/>
            <a:ext cx="11283696" cy="347472"/>
          </a:xfrm>
          <a:prstGeom prst="roundRect">
            <a:avLst>
              <a:gd name="adj" fmla="val 47368"/>
            </a:avLst>
          </a:prstGeom>
          <a:solidFill>
            <a:srgbClr val="152B47"/>
          </a:solidFill>
          <a:ln w="8890">
            <a:solidFill>
              <a:srgbClr val="152B47"/>
            </a:solidFill>
            <a:prstDash val="solid"/>
          </a:ln>
        </p:spPr>
      </p:sp>
      <p:sp>
        <p:nvSpPr>
          <p:cNvPr id="108" name="Text 106"/>
          <p:cNvSpPr/>
          <p:nvPr/>
        </p:nvSpPr>
        <p:spPr>
          <a:xfrm>
            <a:off x="640080" y="6112764"/>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The constructed function satisfies Simon’s exact two-to-one promise.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05</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MATHEMATICAL PROOF</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Why is the hidden XOR period k₁?</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The input XOR mask cancels, and the remaining XOR terms reorder.</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05</a:t>
            </a:r>
            <a:endParaRPr lang="en-US" sz="900" dirty="0"/>
          </a:p>
        </p:txBody>
      </p:sp>
      <p:sp>
        <p:nvSpPr>
          <p:cNvPr id="11" name="Shape 9"/>
          <p:cNvSpPr/>
          <p:nvPr/>
        </p:nvSpPr>
        <p:spPr>
          <a:xfrm>
            <a:off x="512064" y="2011680"/>
            <a:ext cx="6446520" cy="3017520"/>
          </a:xfrm>
          <a:prstGeom prst="roundRect">
            <a:avLst>
              <a:gd name="adj" fmla="val 5455"/>
            </a:avLst>
          </a:prstGeom>
          <a:solidFill>
            <a:srgbClr val="10233C"/>
          </a:solidFill>
          <a:ln w="8890">
            <a:solidFill>
              <a:srgbClr val="243B56"/>
            </a:solidFill>
            <a:prstDash val="solid"/>
          </a:ln>
        </p:spPr>
      </p:sp>
      <p:sp>
        <p:nvSpPr>
          <p:cNvPr id="12" name="Shape 10"/>
          <p:cNvSpPr/>
          <p:nvPr/>
        </p:nvSpPr>
        <p:spPr>
          <a:xfrm>
            <a:off x="658368" y="2194560"/>
            <a:ext cx="36576" cy="2651760"/>
          </a:xfrm>
          <a:prstGeom prst="rect">
            <a:avLst/>
          </a:prstGeom>
          <a:solidFill>
            <a:srgbClr val="21D6C4"/>
          </a:solidFill>
          <a:ln w="12700">
            <a:solidFill>
              <a:srgbClr val="21D6C4"/>
            </a:solidFill>
            <a:prstDash val="solid"/>
          </a:ln>
        </p:spPr>
      </p:sp>
      <p:sp>
        <p:nvSpPr>
          <p:cNvPr id="13" name="Text 11"/>
          <p:cNvSpPr/>
          <p:nvPr/>
        </p:nvSpPr>
        <p:spPr>
          <a:xfrm>
            <a:off x="841248" y="2212848"/>
            <a:ext cx="5934456" cy="347472"/>
          </a:xfrm>
          <a:prstGeom prst="rect">
            <a:avLst/>
          </a:prstGeom>
          <a:noFill/>
        </p:spPr>
        <p:txBody>
          <a:bodyPr wrap="square" lIns="0" tIns="0" rIns="0" bIns="0" rtlCol="0" anchor="ctr">
            <a:normAutofit/>
          </a:bodyPr>
          <a:lstStyle/>
          <a:p>
            <a:pPr marL="0" indent="0">
              <a:buNone/>
            </a:pPr>
            <a:r>
              <a:rPr lang="en-US" sz="1800" b="1" dirty="0">
                <a:solidFill>
                  <a:srgbClr val="F4F9FF"/>
                </a:solidFill>
                <a:latin typeface="Aptos" pitchFamily="34" charset="0"/>
                <a:ea typeface="Aptos" pitchFamily="34" charset="-122"/>
                <a:cs typeface="Aptos" pitchFamily="34" charset="-120"/>
              </a:rPr>
              <a:t>DERIVATION</a:t>
            </a:r>
            <a:endParaRPr lang="en-US" sz="1800" dirty="0"/>
          </a:p>
        </p:txBody>
      </p:sp>
      <p:sp>
        <p:nvSpPr>
          <p:cNvPr id="14" name="Text 12"/>
          <p:cNvSpPr/>
          <p:nvPr/>
        </p:nvSpPr>
        <p:spPr>
          <a:xfrm>
            <a:off x="841248" y="2606040"/>
            <a:ext cx="5907024" cy="2295144"/>
          </a:xfrm>
          <a:prstGeom prst="rect">
            <a:avLst/>
          </a:prstGeom>
          <a:noFill/>
        </p:spPr>
        <p:txBody>
          <a:bodyPr wrap="square" lIns="0" tIns="0" rIns="0" bIns="0" rtlCol="0" anchor="t">
            <a:normAutofit/>
          </a:bodyPr>
          <a:lstStyle/>
          <a:p>
            <a:pPr marL="0" indent="0">
              <a:buNone/>
            </a:pPr>
            <a:r>
              <a:rPr lang="en-US" sz="2200" dirty="0">
                <a:solidFill>
                  <a:srgbClr val="AAC1D7"/>
                </a:solidFill>
                <a:latin typeface="Aptos" pitchFamily="34" charset="0"/>
                <a:ea typeface="Aptos" pitchFamily="34" charset="-122"/>
                <a:cs typeface="Aptos" pitchFamily="34" charset="-120"/>
              </a:rPr>
              <a:t>f(x) = P(x ⊕ k₁) ⊕ k₂ ⊕ P(x)</a:t>
            </a:r>
            <a:endParaRPr lang="en-US" sz="2200" dirty="0"/>
          </a:p>
          <a:p>
            <a:pPr marL="0" indent="0">
              <a:buNone/>
            </a:pPr>
            <a:endParaRPr lang="en-US" sz="2200" dirty="0"/>
          </a:p>
          <a:p>
            <a:pPr marL="0" indent="0">
              <a:buNone/>
            </a:pPr>
            <a:r>
              <a:rPr lang="en-US" sz="2200" dirty="0">
                <a:solidFill>
                  <a:srgbClr val="AAC1D7"/>
                </a:solidFill>
                <a:latin typeface="Aptos" pitchFamily="34" charset="0"/>
                <a:ea typeface="Aptos" pitchFamily="34" charset="-122"/>
                <a:cs typeface="Aptos" pitchFamily="34" charset="-120"/>
              </a:rPr>
              <a:t>f(x ⊕ k₁) = P(x) ⊕ k₂ ⊕ P(x ⊕ k₁)</a:t>
            </a:r>
            <a:endParaRPr lang="en-US" sz="2200" dirty="0"/>
          </a:p>
          <a:p>
            <a:pPr marL="0" indent="0">
              <a:buNone/>
            </a:pPr>
            <a:endParaRPr lang="en-US" sz="2200" dirty="0"/>
          </a:p>
          <a:p>
            <a:pPr marL="0" indent="0">
              <a:buNone/>
            </a:pPr>
            <a:r>
              <a:rPr lang="en-US" sz="2200" dirty="0">
                <a:solidFill>
                  <a:srgbClr val="AAC1D7"/>
                </a:solidFill>
                <a:latin typeface="Aptos" pitchFamily="34" charset="0"/>
                <a:ea typeface="Aptos" pitchFamily="34" charset="-122"/>
                <a:cs typeface="Aptos" pitchFamily="34" charset="-120"/>
              </a:rPr>
              <a:t>Therefore  f(x ⊕ k₁) = f(x)</a:t>
            </a:r>
            <a:endParaRPr lang="en-US" sz="2200" dirty="0"/>
          </a:p>
        </p:txBody>
      </p:sp>
      <p:sp>
        <p:nvSpPr>
          <p:cNvPr id="15" name="Shape 13"/>
          <p:cNvSpPr/>
          <p:nvPr/>
        </p:nvSpPr>
        <p:spPr>
          <a:xfrm>
            <a:off x="7159752" y="2020824"/>
            <a:ext cx="4471416" cy="3035808"/>
          </a:xfrm>
          <a:prstGeom prst="roundRect">
            <a:avLst>
              <a:gd name="adj" fmla="val 5422"/>
            </a:avLst>
          </a:prstGeom>
          <a:solidFill>
            <a:srgbClr val="152B47"/>
          </a:solidFill>
          <a:ln w="8890">
            <a:solidFill>
              <a:srgbClr val="243B56"/>
            </a:solidFill>
            <a:prstDash val="solid"/>
          </a:ln>
        </p:spPr>
      </p:sp>
      <p:sp>
        <p:nvSpPr>
          <p:cNvPr id="16" name="Text 14"/>
          <p:cNvSpPr/>
          <p:nvPr/>
        </p:nvSpPr>
        <p:spPr>
          <a:xfrm>
            <a:off x="7424928" y="2231136"/>
            <a:ext cx="3840480" cy="347472"/>
          </a:xfrm>
          <a:prstGeom prst="rect">
            <a:avLst/>
          </a:prstGeom>
          <a:noFill/>
        </p:spPr>
        <p:txBody>
          <a:bodyPr wrap="square" lIns="0" tIns="0" rIns="0" bIns="0" rtlCol="0" anchor="ctr">
            <a:normAutofit/>
          </a:bodyPr>
          <a:lstStyle/>
          <a:p>
            <a:pPr marL="0" indent="0">
              <a:buNone/>
            </a:pPr>
            <a:r>
              <a:rPr lang="en-US" sz="1600" b="1" dirty="0">
                <a:solidFill>
                  <a:srgbClr val="49BCFF"/>
                </a:solidFill>
                <a:latin typeface="Aptos" pitchFamily="34" charset="0"/>
                <a:ea typeface="Aptos" pitchFamily="34" charset="-122"/>
                <a:cs typeface="Aptos" pitchFamily="34" charset="-120"/>
              </a:rPr>
              <a:t>COLLIDING INPUT PAIRS</a:t>
            </a:r>
            <a:endParaRPr lang="en-US" sz="1600" dirty="0"/>
          </a:p>
        </p:txBody>
      </p:sp>
      <p:sp>
        <p:nvSpPr>
          <p:cNvPr id="17" name="Text 15"/>
          <p:cNvSpPr/>
          <p:nvPr/>
        </p:nvSpPr>
        <p:spPr>
          <a:xfrm>
            <a:off x="7470648" y="2688336"/>
            <a:ext cx="2606040" cy="310896"/>
          </a:xfrm>
          <a:prstGeom prst="rect">
            <a:avLst/>
          </a:prstGeom>
          <a:noFill/>
        </p:spPr>
        <p:txBody>
          <a:bodyPr wrap="square" lIns="0" tIns="0" rIns="0" bIns="0" rtlCol="0" anchor="ctr">
            <a:normAutofit/>
          </a:bodyPr>
          <a:lstStyle/>
          <a:p>
            <a:pPr marL="0" indent="0">
              <a:buNone/>
            </a:pPr>
            <a:r>
              <a:rPr lang="en-US" sz="1800" b="1" dirty="0">
                <a:solidFill>
                  <a:srgbClr val="F4F9FF"/>
                </a:solidFill>
                <a:latin typeface="Aptos" pitchFamily="34" charset="0"/>
                <a:ea typeface="Aptos" pitchFamily="34" charset="-122"/>
                <a:cs typeface="Aptos" pitchFamily="34" charset="-120"/>
              </a:rPr>
              <a:t>000  ⊕101  →  101</a:t>
            </a:r>
            <a:endParaRPr lang="en-US" sz="1800" dirty="0"/>
          </a:p>
        </p:txBody>
      </p:sp>
      <p:sp>
        <p:nvSpPr>
          <p:cNvPr id="18" name="Text 16"/>
          <p:cNvSpPr/>
          <p:nvPr/>
        </p:nvSpPr>
        <p:spPr>
          <a:xfrm>
            <a:off x="10149840" y="2688336"/>
            <a:ext cx="1188720" cy="310896"/>
          </a:xfrm>
          <a:prstGeom prst="rect">
            <a:avLst/>
          </a:prstGeom>
          <a:noFill/>
        </p:spPr>
        <p:txBody>
          <a:bodyPr wrap="square" lIns="0" tIns="0" rIns="0" bIns="0" rtlCol="0" anchor="ctr">
            <a:normAutofit/>
          </a:bodyPr>
          <a:lstStyle/>
          <a:p>
            <a:pPr marL="0" indent="0">
              <a:buNone/>
            </a:pPr>
            <a:r>
              <a:rPr lang="en-US" sz="1400" b="1" dirty="0">
                <a:solidFill>
                  <a:srgbClr val="60E5A5"/>
                </a:solidFill>
                <a:latin typeface="Aptos" pitchFamily="34" charset="0"/>
                <a:ea typeface="Aptos" pitchFamily="34" charset="-122"/>
                <a:cs typeface="Aptos" pitchFamily="34" charset="-120"/>
              </a:rPr>
              <a:t>f = 010</a:t>
            </a:r>
            <a:endParaRPr lang="en-US" sz="1400" dirty="0"/>
          </a:p>
        </p:txBody>
      </p:sp>
      <p:sp>
        <p:nvSpPr>
          <p:cNvPr id="19" name="Text 17"/>
          <p:cNvSpPr/>
          <p:nvPr/>
        </p:nvSpPr>
        <p:spPr>
          <a:xfrm>
            <a:off x="7470648" y="3191256"/>
            <a:ext cx="2606040" cy="310896"/>
          </a:xfrm>
          <a:prstGeom prst="rect">
            <a:avLst/>
          </a:prstGeom>
          <a:noFill/>
        </p:spPr>
        <p:txBody>
          <a:bodyPr wrap="square" lIns="0" tIns="0" rIns="0" bIns="0" rtlCol="0" anchor="ctr">
            <a:normAutofit/>
          </a:bodyPr>
          <a:lstStyle/>
          <a:p>
            <a:pPr marL="0" indent="0">
              <a:buNone/>
            </a:pPr>
            <a:r>
              <a:rPr lang="en-US" sz="1800" b="1" dirty="0">
                <a:solidFill>
                  <a:srgbClr val="F4F9FF"/>
                </a:solidFill>
                <a:latin typeface="Aptos" pitchFamily="34" charset="0"/>
                <a:ea typeface="Aptos" pitchFamily="34" charset="-122"/>
                <a:cs typeface="Aptos" pitchFamily="34" charset="-120"/>
              </a:rPr>
              <a:t>001  ⊕101  →  100</a:t>
            </a:r>
            <a:endParaRPr lang="en-US" sz="1800" dirty="0"/>
          </a:p>
        </p:txBody>
      </p:sp>
      <p:sp>
        <p:nvSpPr>
          <p:cNvPr id="20" name="Text 18"/>
          <p:cNvSpPr/>
          <p:nvPr/>
        </p:nvSpPr>
        <p:spPr>
          <a:xfrm>
            <a:off x="10149840" y="3191256"/>
            <a:ext cx="1188720" cy="310896"/>
          </a:xfrm>
          <a:prstGeom prst="rect">
            <a:avLst/>
          </a:prstGeom>
          <a:noFill/>
        </p:spPr>
        <p:txBody>
          <a:bodyPr wrap="square" lIns="0" tIns="0" rIns="0" bIns="0" rtlCol="0" anchor="ctr">
            <a:normAutofit/>
          </a:bodyPr>
          <a:lstStyle/>
          <a:p>
            <a:pPr marL="0" indent="0">
              <a:buNone/>
            </a:pPr>
            <a:r>
              <a:rPr lang="en-US" sz="1400" b="1" dirty="0">
                <a:solidFill>
                  <a:srgbClr val="60E5A5"/>
                </a:solidFill>
                <a:latin typeface="Aptos" pitchFamily="34" charset="0"/>
                <a:ea typeface="Aptos" pitchFamily="34" charset="-122"/>
                <a:cs typeface="Aptos" pitchFamily="34" charset="-120"/>
              </a:rPr>
              <a:t>f = 101</a:t>
            </a:r>
            <a:endParaRPr lang="en-US" sz="1400" dirty="0"/>
          </a:p>
        </p:txBody>
      </p:sp>
      <p:sp>
        <p:nvSpPr>
          <p:cNvPr id="21" name="Text 19"/>
          <p:cNvSpPr/>
          <p:nvPr/>
        </p:nvSpPr>
        <p:spPr>
          <a:xfrm>
            <a:off x="7470648" y="3694176"/>
            <a:ext cx="2606040" cy="310896"/>
          </a:xfrm>
          <a:prstGeom prst="rect">
            <a:avLst/>
          </a:prstGeom>
          <a:noFill/>
        </p:spPr>
        <p:txBody>
          <a:bodyPr wrap="square" lIns="0" tIns="0" rIns="0" bIns="0" rtlCol="0" anchor="ctr">
            <a:normAutofit/>
          </a:bodyPr>
          <a:lstStyle/>
          <a:p>
            <a:pPr marL="0" indent="0">
              <a:buNone/>
            </a:pPr>
            <a:r>
              <a:rPr lang="en-US" sz="1800" b="1" dirty="0">
                <a:solidFill>
                  <a:srgbClr val="F4F9FF"/>
                </a:solidFill>
                <a:latin typeface="Aptos" pitchFamily="34" charset="0"/>
                <a:ea typeface="Aptos" pitchFamily="34" charset="-122"/>
                <a:cs typeface="Aptos" pitchFamily="34" charset="-120"/>
              </a:rPr>
              <a:t>010  ⊕101  →  111</a:t>
            </a:r>
            <a:endParaRPr lang="en-US" sz="1800" dirty="0"/>
          </a:p>
        </p:txBody>
      </p:sp>
      <p:sp>
        <p:nvSpPr>
          <p:cNvPr id="22" name="Text 20"/>
          <p:cNvSpPr/>
          <p:nvPr/>
        </p:nvSpPr>
        <p:spPr>
          <a:xfrm>
            <a:off x="10149840" y="3694176"/>
            <a:ext cx="1188720" cy="310896"/>
          </a:xfrm>
          <a:prstGeom prst="rect">
            <a:avLst/>
          </a:prstGeom>
          <a:noFill/>
        </p:spPr>
        <p:txBody>
          <a:bodyPr wrap="square" lIns="0" tIns="0" rIns="0" bIns="0" rtlCol="0" anchor="ctr">
            <a:normAutofit/>
          </a:bodyPr>
          <a:lstStyle/>
          <a:p>
            <a:pPr marL="0" indent="0">
              <a:buNone/>
            </a:pPr>
            <a:r>
              <a:rPr lang="en-US" sz="1400" b="1" dirty="0">
                <a:solidFill>
                  <a:srgbClr val="60E5A5"/>
                </a:solidFill>
                <a:latin typeface="Aptos" pitchFamily="34" charset="0"/>
                <a:ea typeface="Aptos" pitchFamily="34" charset="-122"/>
                <a:cs typeface="Aptos" pitchFamily="34" charset="-120"/>
              </a:rPr>
              <a:t>f = 111</a:t>
            </a:r>
            <a:endParaRPr lang="en-US" sz="1400" dirty="0"/>
          </a:p>
        </p:txBody>
      </p:sp>
      <p:sp>
        <p:nvSpPr>
          <p:cNvPr id="23" name="Text 21"/>
          <p:cNvSpPr/>
          <p:nvPr/>
        </p:nvSpPr>
        <p:spPr>
          <a:xfrm>
            <a:off x="7470648" y="4197096"/>
            <a:ext cx="2606040" cy="310896"/>
          </a:xfrm>
          <a:prstGeom prst="rect">
            <a:avLst/>
          </a:prstGeom>
          <a:noFill/>
        </p:spPr>
        <p:txBody>
          <a:bodyPr wrap="square" lIns="0" tIns="0" rIns="0" bIns="0" rtlCol="0" anchor="ctr">
            <a:normAutofit/>
          </a:bodyPr>
          <a:lstStyle/>
          <a:p>
            <a:pPr marL="0" indent="0">
              <a:buNone/>
            </a:pPr>
            <a:r>
              <a:rPr lang="en-US" sz="1800" b="1" dirty="0">
                <a:solidFill>
                  <a:srgbClr val="F4F9FF"/>
                </a:solidFill>
                <a:latin typeface="Aptos" pitchFamily="34" charset="0"/>
                <a:ea typeface="Aptos" pitchFamily="34" charset="-122"/>
                <a:cs typeface="Aptos" pitchFamily="34" charset="-120"/>
              </a:rPr>
              <a:t>011  ⊕101  →  110</a:t>
            </a:r>
            <a:endParaRPr lang="en-US" sz="1800" dirty="0"/>
          </a:p>
        </p:txBody>
      </p:sp>
      <p:sp>
        <p:nvSpPr>
          <p:cNvPr id="24" name="Text 22"/>
          <p:cNvSpPr/>
          <p:nvPr/>
        </p:nvSpPr>
        <p:spPr>
          <a:xfrm>
            <a:off x="10149840" y="4197096"/>
            <a:ext cx="1188720" cy="310896"/>
          </a:xfrm>
          <a:prstGeom prst="rect">
            <a:avLst/>
          </a:prstGeom>
          <a:noFill/>
        </p:spPr>
        <p:txBody>
          <a:bodyPr wrap="square" lIns="0" tIns="0" rIns="0" bIns="0" rtlCol="0" anchor="ctr">
            <a:normAutofit/>
          </a:bodyPr>
          <a:lstStyle/>
          <a:p>
            <a:pPr marL="0" indent="0">
              <a:buNone/>
            </a:pPr>
            <a:r>
              <a:rPr lang="en-US" sz="1400" b="1" dirty="0">
                <a:solidFill>
                  <a:srgbClr val="60E5A5"/>
                </a:solidFill>
                <a:latin typeface="Aptos" pitchFamily="34" charset="0"/>
                <a:ea typeface="Aptos" pitchFamily="34" charset="-122"/>
                <a:cs typeface="Aptos" pitchFamily="34" charset="-120"/>
              </a:rPr>
              <a:t>f = 000</a:t>
            </a:r>
            <a:endParaRPr lang="en-US" sz="1400" dirty="0"/>
          </a:p>
        </p:txBody>
      </p:sp>
      <p:sp>
        <p:nvSpPr>
          <p:cNvPr id="25" name="Shape 23"/>
          <p:cNvSpPr/>
          <p:nvPr/>
        </p:nvSpPr>
        <p:spPr>
          <a:xfrm>
            <a:off x="438912" y="5605272"/>
            <a:ext cx="11283696" cy="347472"/>
          </a:xfrm>
          <a:prstGeom prst="roundRect">
            <a:avLst>
              <a:gd name="adj" fmla="val 47368"/>
            </a:avLst>
          </a:prstGeom>
          <a:solidFill>
            <a:srgbClr val="152B47"/>
          </a:solidFill>
          <a:ln w="8890">
            <a:solidFill>
              <a:srgbClr val="152B47"/>
            </a:solidFill>
            <a:prstDash val="solid"/>
          </a:ln>
        </p:spPr>
      </p:sp>
      <p:sp>
        <p:nvSpPr>
          <p:cNvPr id="26" name="Text 24"/>
          <p:cNvSpPr/>
          <p:nvPr/>
        </p:nvSpPr>
        <p:spPr>
          <a:xfrm>
            <a:off x="640080" y="5637276"/>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FFC76B"/>
                </a:solidFill>
                <a:latin typeface="Aptos" pitchFamily="34" charset="0"/>
                <a:ea typeface="Aptos" pitchFamily="34" charset="-122"/>
                <a:cs typeface="Aptos" pitchFamily="34" charset="-120"/>
              </a:rPr>
              <a:t>Why 3 bits? A 2-bit permutation makes f constant, so its period cannot be uniquely recovered.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06</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QUANTUM ALGORITHM</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Simon's circuit: H → oracle → H → measure</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Three input qubits + three output qubits = six qubits.</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06</a:t>
            </a:r>
            <a:endParaRPr lang="en-US" sz="900" dirty="0"/>
          </a:p>
        </p:txBody>
      </p:sp>
      <p:sp>
        <p:nvSpPr>
          <p:cNvPr id="11" name="Shape 9"/>
          <p:cNvSpPr/>
          <p:nvPr/>
        </p:nvSpPr>
        <p:spPr>
          <a:xfrm>
            <a:off x="530352" y="2048256"/>
            <a:ext cx="11109960" cy="2944368"/>
          </a:xfrm>
          <a:prstGeom prst="roundRect">
            <a:avLst>
              <a:gd name="adj" fmla="val 5590"/>
            </a:avLst>
          </a:prstGeom>
          <a:solidFill>
            <a:srgbClr val="FFFFFF"/>
          </a:solidFill>
          <a:ln w="8890">
            <a:solidFill>
              <a:srgbClr val="FFFFFF"/>
            </a:solidFill>
            <a:prstDash val="solid"/>
          </a:ln>
        </p:spPr>
      </p:sp>
      <p:pic>
        <p:nvPicPr>
          <p:cNvPr id="12" name="Image 0" descr="/mnt/data/_quantum_build/simon_circuit.png"/>
          <p:cNvPicPr>
            <a:picLocks noChangeAspect="1"/>
          </p:cNvPicPr>
          <p:nvPr/>
        </p:nvPicPr>
        <p:blipFill>
          <a:blip r:embed="rId1"/>
          <a:stretch>
            <a:fillRect/>
          </a:stretch>
        </p:blipFill>
        <p:spPr>
          <a:xfrm>
            <a:off x="758952" y="2267712"/>
            <a:ext cx="10643616" cy="2523744"/>
          </a:xfrm>
          <a:prstGeom prst="rect">
            <a:avLst/>
          </a:prstGeom>
        </p:spPr>
      </p:pic>
      <p:sp>
        <p:nvSpPr>
          <p:cNvPr id="13" name="Shape 10"/>
          <p:cNvSpPr/>
          <p:nvPr/>
        </p:nvSpPr>
        <p:spPr>
          <a:xfrm>
            <a:off x="576072" y="5257800"/>
            <a:ext cx="2176272" cy="338328"/>
          </a:xfrm>
          <a:prstGeom prst="roundRect">
            <a:avLst>
              <a:gd name="adj" fmla="val 48649"/>
            </a:avLst>
          </a:prstGeom>
          <a:solidFill>
            <a:srgbClr val="152B47"/>
          </a:solidFill>
          <a:ln w="8890">
            <a:solidFill>
              <a:srgbClr val="152B47"/>
            </a:solidFill>
            <a:prstDash val="solid"/>
          </a:ln>
        </p:spPr>
      </p:sp>
      <p:sp>
        <p:nvSpPr>
          <p:cNvPr id="14" name="Text 11"/>
          <p:cNvSpPr/>
          <p:nvPr/>
        </p:nvSpPr>
        <p:spPr>
          <a:xfrm>
            <a:off x="685800" y="5266944"/>
            <a:ext cx="1956816" cy="320040"/>
          </a:xfrm>
          <a:prstGeom prst="rect">
            <a:avLst/>
          </a:prstGeom>
          <a:noFill/>
        </p:spPr>
        <p:txBody>
          <a:bodyPr wrap="square" lIns="0" tIns="0" rIns="0" bIns="0" rtlCol="0" anchor="ctr">
            <a:normAutofit/>
          </a:bodyPr>
          <a:lstStyle/>
          <a:p>
            <a:pPr marL="0" indent="0" algn="ctr">
              <a:buNone/>
            </a:pPr>
            <a:r>
              <a:rPr lang="en-US" sz="1020" b="1" dirty="0">
                <a:solidFill>
                  <a:srgbClr val="49BCFF"/>
                </a:solidFill>
                <a:latin typeface="Aptos" pitchFamily="34" charset="0"/>
                <a:ea typeface="Aptos" pitchFamily="34" charset="-122"/>
                <a:cs typeface="Aptos" pitchFamily="34" charset="-120"/>
              </a:rPr>
              <a:t>1  SUPERPOSE</a:t>
            </a:r>
            <a:endParaRPr lang="en-US" sz="1020" dirty="0"/>
          </a:p>
        </p:txBody>
      </p:sp>
      <p:sp>
        <p:nvSpPr>
          <p:cNvPr id="15" name="Shape 12"/>
          <p:cNvSpPr/>
          <p:nvPr/>
        </p:nvSpPr>
        <p:spPr>
          <a:xfrm>
            <a:off x="2907792" y="5257800"/>
            <a:ext cx="3108960" cy="338328"/>
          </a:xfrm>
          <a:prstGeom prst="roundRect">
            <a:avLst>
              <a:gd name="adj" fmla="val 48649"/>
            </a:avLst>
          </a:prstGeom>
          <a:solidFill>
            <a:srgbClr val="152B47"/>
          </a:solidFill>
          <a:ln w="8890">
            <a:solidFill>
              <a:srgbClr val="152B47"/>
            </a:solidFill>
            <a:prstDash val="solid"/>
          </a:ln>
        </p:spPr>
      </p:sp>
      <p:sp>
        <p:nvSpPr>
          <p:cNvPr id="16" name="Text 13"/>
          <p:cNvSpPr/>
          <p:nvPr/>
        </p:nvSpPr>
        <p:spPr>
          <a:xfrm>
            <a:off x="3017520" y="5266944"/>
            <a:ext cx="2889504" cy="320040"/>
          </a:xfrm>
          <a:prstGeom prst="rect">
            <a:avLst/>
          </a:prstGeom>
          <a:noFill/>
        </p:spPr>
        <p:txBody>
          <a:bodyPr wrap="square" lIns="0" tIns="0" rIns="0" bIns="0" rtlCol="0" anchor="ctr">
            <a:normAutofit/>
          </a:bodyPr>
          <a:lstStyle/>
          <a:p>
            <a:pPr marL="0" indent="0" algn="ctr">
              <a:buNone/>
            </a:pPr>
            <a:r>
              <a:rPr lang="en-US" sz="1020" b="1" dirty="0">
                <a:solidFill>
                  <a:srgbClr val="21D6C4"/>
                </a:solidFill>
                <a:latin typeface="Aptos" pitchFamily="34" charset="0"/>
                <a:ea typeface="Aptos" pitchFamily="34" charset="-122"/>
                <a:cs typeface="Aptos" pitchFamily="34" charset="-120"/>
              </a:rPr>
              <a:t>2  Uƒ(x) = E(x) ⊕ P(x)</a:t>
            </a:r>
            <a:endParaRPr lang="en-US" sz="1020" dirty="0"/>
          </a:p>
        </p:txBody>
      </p:sp>
      <p:sp>
        <p:nvSpPr>
          <p:cNvPr id="17" name="Shape 14"/>
          <p:cNvSpPr/>
          <p:nvPr/>
        </p:nvSpPr>
        <p:spPr>
          <a:xfrm>
            <a:off x="6163056" y="5257800"/>
            <a:ext cx="2276856" cy="338328"/>
          </a:xfrm>
          <a:prstGeom prst="roundRect">
            <a:avLst>
              <a:gd name="adj" fmla="val 48649"/>
            </a:avLst>
          </a:prstGeom>
          <a:solidFill>
            <a:srgbClr val="152B47"/>
          </a:solidFill>
          <a:ln w="8890">
            <a:solidFill>
              <a:srgbClr val="152B47"/>
            </a:solidFill>
            <a:prstDash val="solid"/>
          </a:ln>
        </p:spPr>
      </p:sp>
      <p:sp>
        <p:nvSpPr>
          <p:cNvPr id="18" name="Text 15"/>
          <p:cNvSpPr/>
          <p:nvPr/>
        </p:nvSpPr>
        <p:spPr>
          <a:xfrm>
            <a:off x="6272784" y="5266944"/>
            <a:ext cx="2057400" cy="320040"/>
          </a:xfrm>
          <a:prstGeom prst="rect">
            <a:avLst/>
          </a:prstGeom>
          <a:noFill/>
        </p:spPr>
        <p:txBody>
          <a:bodyPr wrap="square" lIns="0" tIns="0" rIns="0" bIns="0" rtlCol="0" anchor="ctr">
            <a:normAutofit/>
          </a:bodyPr>
          <a:lstStyle/>
          <a:p>
            <a:pPr marL="0" indent="0" algn="ctr">
              <a:buNone/>
            </a:pPr>
            <a:r>
              <a:rPr lang="en-US" sz="1020" b="1" dirty="0">
                <a:solidFill>
                  <a:srgbClr val="B09BFF"/>
                </a:solidFill>
                <a:latin typeface="Aptos" pitchFamily="34" charset="0"/>
                <a:ea typeface="Aptos" pitchFamily="34" charset="-122"/>
                <a:cs typeface="Aptos" pitchFamily="34" charset="-120"/>
              </a:rPr>
              <a:t>3  INTERFERE</a:t>
            </a:r>
            <a:endParaRPr lang="en-US" sz="1020" dirty="0"/>
          </a:p>
        </p:txBody>
      </p:sp>
      <p:sp>
        <p:nvSpPr>
          <p:cNvPr id="19" name="Shape 16"/>
          <p:cNvSpPr/>
          <p:nvPr/>
        </p:nvSpPr>
        <p:spPr>
          <a:xfrm>
            <a:off x="8613648" y="5257800"/>
            <a:ext cx="2532888" cy="338328"/>
          </a:xfrm>
          <a:prstGeom prst="roundRect">
            <a:avLst>
              <a:gd name="adj" fmla="val 48649"/>
            </a:avLst>
          </a:prstGeom>
          <a:solidFill>
            <a:srgbClr val="152B47"/>
          </a:solidFill>
          <a:ln w="8890">
            <a:solidFill>
              <a:srgbClr val="152B47"/>
            </a:solidFill>
            <a:prstDash val="solid"/>
          </a:ln>
        </p:spPr>
      </p:sp>
      <p:sp>
        <p:nvSpPr>
          <p:cNvPr id="20" name="Text 17"/>
          <p:cNvSpPr/>
          <p:nvPr/>
        </p:nvSpPr>
        <p:spPr>
          <a:xfrm>
            <a:off x="8723376" y="5266944"/>
            <a:ext cx="2313432" cy="320040"/>
          </a:xfrm>
          <a:prstGeom prst="rect">
            <a:avLst/>
          </a:prstGeom>
          <a:noFill/>
        </p:spPr>
        <p:txBody>
          <a:bodyPr wrap="square" lIns="0" tIns="0" rIns="0" bIns="0" rtlCol="0" anchor="ctr">
            <a:normAutofit/>
          </a:bodyPr>
          <a:lstStyle/>
          <a:p>
            <a:pPr marL="0" indent="0" algn="ctr">
              <a:buNone/>
            </a:pPr>
            <a:r>
              <a:rPr lang="en-US" sz="1020" b="1" dirty="0">
                <a:solidFill>
                  <a:srgbClr val="60E5A5"/>
                </a:solidFill>
                <a:latin typeface="Aptos" pitchFamily="34" charset="0"/>
                <a:ea typeface="Aptos" pitchFamily="34" charset="-122"/>
                <a:cs typeface="Aptos" pitchFamily="34" charset="-120"/>
              </a:rPr>
              <a:t>4  MEASURE x</a:t>
            </a:r>
            <a:endParaRPr lang="en-US" sz="1020" dirty="0"/>
          </a:p>
        </p:txBody>
      </p:sp>
      <p:sp>
        <p:nvSpPr>
          <p:cNvPr id="21" name="Shape 18"/>
          <p:cNvSpPr/>
          <p:nvPr/>
        </p:nvSpPr>
        <p:spPr>
          <a:xfrm>
            <a:off x="438912" y="5952744"/>
            <a:ext cx="11283696" cy="347472"/>
          </a:xfrm>
          <a:prstGeom prst="roundRect">
            <a:avLst>
              <a:gd name="adj" fmla="val 47368"/>
            </a:avLst>
          </a:prstGeom>
          <a:solidFill>
            <a:srgbClr val="152B47"/>
          </a:solidFill>
          <a:ln w="8890">
            <a:solidFill>
              <a:srgbClr val="152B47"/>
            </a:solidFill>
            <a:prstDash val="solid"/>
          </a:ln>
        </p:spPr>
      </p:sp>
      <p:sp>
        <p:nvSpPr>
          <p:cNvPr id="22" name="Text 19"/>
          <p:cNvSpPr/>
          <p:nvPr/>
        </p:nvSpPr>
        <p:spPr>
          <a:xfrm>
            <a:off x="640080" y="5984748"/>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The oracle is reversible: Uƒ|x,z⟩ = |x,z ⊕ f(x)⟩.</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07</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WORKED SOLUTION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Recover k₁ from quantum measurement equations</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Each measurement y satisfies y · k₁ = 0 (mod 2).</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07</a:t>
            </a:r>
            <a:endParaRPr lang="en-US" sz="900" dirty="0"/>
          </a:p>
        </p:txBody>
      </p:sp>
      <p:sp>
        <p:nvSpPr>
          <p:cNvPr id="11" name="Shape 9"/>
          <p:cNvSpPr/>
          <p:nvPr/>
        </p:nvSpPr>
        <p:spPr>
          <a:xfrm>
            <a:off x="521208" y="2039112"/>
            <a:ext cx="4023360" cy="3108960"/>
          </a:xfrm>
          <a:prstGeom prst="roundRect">
            <a:avLst>
              <a:gd name="adj" fmla="val 5294"/>
            </a:avLst>
          </a:prstGeom>
          <a:solidFill>
            <a:srgbClr val="152B47"/>
          </a:solidFill>
          <a:ln w="8890">
            <a:solidFill>
              <a:srgbClr val="243B56"/>
            </a:solidFill>
            <a:prstDash val="solid"/>
          </a:ln>
        </p:spPr>
      </p:sp>
      <p:sp>
        <p:nvSpPr>
          <p:cNvPr id="12" name="Text 10"/>
          <p:cNvSpPr/>
          <p:nvPr/>
        </p:nvSpPr>
        <p:spPr>
          <a:xfrm>
            <a:off x="795528" y="2350008"/>
            <a:ext cx="3474720" cy="320040"/>
          </a:xfrm>
          <a:prstGeom prst="rect">
            <a:avLst/>
          </a:prstGeom>
          <a:noFill/>
        </p:spPr>
        <p:txBody>
          <a:bodyPr wrap="square" lIns="0" tIns="0" rIns="0" bIns="0" rtlCol="0" anchor="ctr">
            <a:normAutofit/>
          </a:bodyPr>
          <a:lstStyle/>
          <a:p>
            <a:pPr marL="0" indent="0">
              <a:buNone/>
            </a:pPr>
            <a:r>
              <a:rPr lang="en-US" sz="1700" b="1" dirty="0">
                <a:solidFill>
                  <a:srgbClr val="49BCFF"/>
                </a:solidFill>
                <a:latin typeface="Aptos" pitchFamily="34" charset="0"/>
                <a:ea typeface="Aptos" pitchFamily="34" charset="-122"/>
                <a:cs typeface="Aptos" pitchFamily="34" charset="-120"/>
              </a:rPr>
              <a:t>ONLY FOUR VALID OUTCOMES</a:t>
            </a:r>
            <a:endParaRPr lang="en-US" sz="1700" dirty="0"/>
          </a:p>
        </p:txBody>
      </p:sp>
      <p:sp>
        <p:nvSpPr>
          <p:cNvPr id="13" name="Shape 11"/>
          <p:cNvSpPr/>
          <p:nvPr/>
        </p:nvSpPr>
        <p:spPr>
          <a:xfrm>
            <a:off x="822960" y="2779776"/>
            <a:ext cx="3429000" cy="438912"/>
          </a:xfrm>
          <a:prstGeom prst="roundRect">
            <a:avLst>
              <a:gd name="adj" fmla="val 37500"/>
            </a:avLst>
          </a:prstGeom>
          <a:solidFill>
            <a:srgbClr val="0D1F35"/>
          </a:solidFill>
          <a:ln w="8890">
            <a:solidFill>
              <a:srgbClr val="243B56"/>
            </a:solidFill>
            <a:prstDash val="solid"/>
          </a:ln>
        </p:spPr>
      </p:sp>
      <p:sp>
        <p:nvSpPr>
          <p:cNvPr id="14" name="Text 12"/>
          <p:cNvSpPr/>
          <p:nvPr/>
        </p:nvSpPr>
        <p:spPr>
          <a:xfrm>
            <a:off x="1078992" y="2834640"/>
            <a:ext cx="1371600" cy="283464"/>
          </a:xfrm>
          <a:prstGeom prst="rect">
            <a:avLst/>
          </a:prstGeom>
          <a:noFill/>
        </p:spPr>
        <p:txBody>
          <a:bodyPr wrap="square" lIns="0" tIns="0" rIns="0" bIns="0" rtlCol="0" anchor="ctr">
            <a:normAutofit/>
          </a:bodyPr>
          <a:lstStyle/>
          <a:p>
            <a:pPr marL="0" indent="0">
              <a:buNone/>
            </a:pPr>
            <a:r>
              <a:rPr lang="en-US" sz="2000" b="1" dirty="0">
                <a:solidFill>
                  <a:srgbClr val="F4F9FF"/>
                </a:solidFill>
                <a:latin typeface="Aptos" pitchFamily="34" charset="0"/>
                <a:ea typeface="Aptos" pitchFamily="34" charset="-122"/>
                <a:cs typeface="Aptos" pitchFamily="34" charset="-120"/>
              </a:rPr>
              <a:t>000</a:t>
            </a:r>
            <a:endParaRPr lang="en-US" sz="2000" dirty="0"/>
          </a:p>
        </p:txBody>
      </p:sp>
      <p:sp>
        <p:nvSpPr>
          <p:cNvPr id="15" name="Text 13"/>
          <p:cNvSpPr/>
          <p:nvPr/>
        </p:nvSpPr>
        <p:spPr>
          <a:xfrm>
            <a:off x="3063240" y="2834640"/>
            <a:ext cx="923544" cy="283464"/>
          </a:xfrm>
          <a:prstGeom prst="rect">
            <a:avLst/>
          </a:prstGeom>
          <a:noFill/>
        </p:spPr>
        <p:txBody>
          <a:bodyPr wrap="square" lIns="0" tIns="0" rIns="0" bIns="0" rtlCol="0" anchor="ctr">
            <a:normAutofit/>
          </a:bodyPr>
          <a:lstStyle/>
          <a:p>
            <a:pPr marL="0" indent="0" algn="r">
              <a:buNone/>
            </a:pPr>
            <a:r>
              <a:rPr lang="en-US" sz="1700" b="1" dirty="0">
                <a:solidFill>
                  <a:srgbClr val="60E5A5"/>
                </a:solidFill>
                <a:latin typeface="Aptos" pitchFamily="34" charset="0"/>
                <a:ea typeface="Aptos" pitchFamily="34" charset="-122"/>
                <a:cs typeface="Aptos" pitchFamily="34" charset="-120"/>
              </a:rPr>
              <a:t>25%</a:t>
            </a:r>
            <a:endParaRPr lang="en-US" sz="1700" dirty="0"/>
          </a:p>
        </p:txBody>
      </p:sp>
      <p:sp>
        <p:nvSpPr>
          <p:cNvPr id="16" name="Shape 14"/>
          <p:cNvSpPr/>
          <p:nvPr/>
        </p:nvSpPr>
        <p:spPr>
          <a:xfrm>
            <a:off x="822960" y="3291840"/>
            <a:ext cx="3429000" cy="438912"/>
          </a:xfrm>
          <a:prstGeom prst="roundRect">
            <a:avLst>
              <a:gd name="adj" fmla="val 37500"/>
            </a:avLst>
          </a:prstGeom>
          <a:solidFill>
            <a:srgbClr val="10233C"/>
          </a:solidFill>
          <a:ln w="8890">
            <a:solidFill>
              <a:srgbClr val="243B56"/>
            </a:solidFill>
            <a:prstDash val="solid"/>
          </a:ln>
        </p:spPr>
      </p:sp>
      <p:sp>
        <p:nvSpPr>
          <p:cNvPr id="17" name="Text 15"/>
          <p:cNvSpPr/>
          <p:nvPr/>
        </p:nvSpPr>
        <p:spPr>
          <a:xfrm>
            <a:off x="1078992" y="3346704"/>
            <a:ext cx="1371600" cy="283464"/>
          </a:xfrm>
          <a:prstGeom prst="rect">
            <a:avLst/>
          </a:prstGeom>
          <a:noFill/>
        </p:spPr>
        <p:txBody>
          <a:bodyPr wrap="square" lIns="0" tIns="0" rIns="0" bIns="0" rtlCol="0" anchor="ctr">
            <a:normAutofit/>
          </a:bodyPr>
          <a:lstStyle/>
          <a:p>
            <a:pPr marL="0" indent="0">
              <a:buNone/>
            </a:pPr>
            <a:r>
              <a:rPr lang="en-US" sz="2000" b="1" dirty="0">
                <a:solidFill>
                  <a:srgbClr val="F4F9FF"/>
                </a:solidFill>
                <a:latin typeface="Aptos" pitchFamily="34" charset="0"/>
                <a:ea typeface="Aptos" pitchFamily="34" charset="-122"/>
                <a:cs typeface="Aptos" pitchFamily="34" charset="-120"/>
              </a:rPr>
              <a:t>010</a:t>
            </a:r>
            <a:endParaRPr lang="en-US" sz="2000" dirty="0"/>
          </a:p>
        </p:txBody>
      </p:sp>
      <p:sp>
        <p:nvSpPr>
          <p:cNvPr id="18" name="Text 16"/>
          <p:cNvSpPr/>
          <p:nvPr/>
        </p:nvSpPr>
        <p:spPr>
          <a:xfrm>
            <a:off x="3063240" y="3346704"/>
            <a:ext cx="923544" cy="283464"/>
          </a:xfrm>
          <a:prstGeom prst="rect">
            <a:avLst/>
          </a:prstGeom>
          <a:noFill/>
        </p:spPr>
        <p:txBody>
          <a:bodyPr wrap="square" lIns="0" tIns="0" rIns="0" bIns="0" rtlCol="0" anchor="ctr">
            <a:normAutofit/>
          </a:bodyPr>
          <a:lstStyle/>
          <a:p>
            <a:pPr marL="0" indent="0" algn="r">
              <a:buNone/>
            </a:pPr>
            <a:r>
              <a:rPr lang="en-US" sz="1700" b="1" dirty="0">
                <a:solidFill>
                  <a:srgbClr val="60E5A5"/>
                </a:solidFill>
                <a:latin typeface="Aptos" pitchFamily="34" charset="0"/>
                <a:ea typeface="Aptos" pitchFamily="34" charset="-122"/>
                <a:cs typeface="Aptos" pitchFamily="34" charset="-120"/>
              </a:rPr>
              <a:t>25%</a:t>
            </a:r>
            <a:endParaRPr lang="en-US" sz="1700" dirty="0"/>
          </a:p>
        </p:txBody>
      </p:sp>
      <p:sp>
        <p:nvSpPr>
          <p:cNvPr id="19" name="Shape 17"/>
          <p:cNvSpPr/>
          <p:nvPr/>
        </p:nvSpPr>
        <p:spPr>
          <a:xfrm>
            <a:off x="822960" y="3803904"/>
            <a:ext cx="3429000" cy="438912"/>
          </a:xfrm>
          <a:prstGeom prst="roundRect">
            <a:avLst>
              <a:gd name="adj" fmla="val 37500"/>
            </a:avLst>
          </a:prstGeom>
          <a:solidFill>
            <a:srgbClr val="0D1F35"/>
          </a:solidFill>
          <a:ln w="8890">
            <a:solidFill>
              <a:srgbClr val="243B56"/>
            </a:solidFill>
            <a:prstDash val="solid"/>
          </a:ln>
        </p:spPr>
      </p:sp>
      <p:sp>
        <p:nvSpPr>
          <p:cNvPr id="20" name="Text 18"/>
          <p:cNvSpPr/>
          <p:nvPr/>
        </p:nvSpPr>
        <p:spPr>
          <a:xfrm>
            <a:off x="1078992" y="3858768"/>
            <a:ext cx="1371600" cy="283464"/>
          </a:xfrm>
          <a:prstGeom prst="rect">
            <a:avLst/>
          </a:prstGeom>
          <a:noFill/>
        </p:spPr>
        <p:txBody>
          <a:bodyPr wrap="square" lIns="0" tIns="0" rIns="0" bIns="0" rtlCol="0" anchor="ctr">
            <a:normAutofit/>
          </a:bodyPr>
          <a:lstStyle/>
          <a:p>
            <a:pPr marL="0" indent="0">
              <a:buNone/>
            </a:pPr>
            <a:r>
              <a:rPr lang="en-US" sz="2000" b="1" dirty="0">
                <a:solidFill>
                  <a:srgbClr val="F4F9FF"/>
                </a:solidFill>
                <a:latin typeface="Aptos" pitchFamily="34" charset="0"/>
                <a:ea typeface="Aptos" pitchFamily="34" charset="-122"/>
                <a:cs typeface="Aptos" pitchFamily="34" charset="-120"/>
              </a:rPr>
              <a:t>101</a:t>
            </a:r>
            <a:endParaRPr lang="en-US" sz="2000" dirty="0"/>
          </a:p>
        </p:txBody>
      </p:sp>
      <p:sp>
        <p:nvSpPr>
          <p:cNvPr id="21" name="Text 19"/>
          <p:cNvSpPr/>
          <p:nvPr/>
        </p:nvSpPr>
        <p:spPr>
          <a:xfrm>
            <a:off x="3063240" y="3858768"/>
            <a:ext cx="923544" cy="283464"/>
          </a:xfrm>
          <a:prstGeom prst="rect">
            <a:avLst/>
          </a:prstGeom>
          <a:noFill/>
        </p:spPr>
        <p:txBody>
          <a:bodyPr wrap="square" lIns="0" tIns="0" rIns="0" bIns="0" rtlCol="0" anchor="ctr">
            <a:normAutofit/>
          </a:bodyPr>
          <a:lstStyle/>
          <a:p>
            <a:pPr marL="0" indent="0" algn="r">
              <a:buNone/>
            </a:pPr>
            <a:r>
              <a:rPr lang="en-US" sz="1700" b="1" dirty="0">
                <a:solidFill>
                  <a:srgbClr val="60E5A5"/>
                </a:solidFill>
                <a:latin typeface="Aptos" pitchFamily="34" charset="0"/>
                <a:ea typeface="Aptos" pitchFamily="34" charset="-122"/>
                <a:cs typeface="Aptos" pitchFamily="34" charset="-120"/>
              </a:rPr>
              <a:t>25%</a:t>
            </a:r>
            <a:endParaRPr lang="en-US" sz="1700" dirty="0"/>
          </a:p>
        </p:txBody>
      </p:sp>
      <p:sp>
        <p:nvSpPr>
          <p:cNvPr id="22" name="Shape 20"/>
          <p:cNvSpPr/>
          <p:nvPr/>
        </p:nvSpPr>
        <p:spPr>
          <a:xfrm>
            <a:off x="822960" y="4315968"/>
            <a:ext cx="3429000" cy="438912"/>
          </a:xfrm>
          <a:prstGeom prst="roundRect">
            <a:avLst>
              <a:gd name="adj" fmla="val 37500"/>
            </a:avLst>
          </a:prstGeom>
          <a:solidFill>
            <a:srgbClr val="10233C"/>
          </a:solidFill>
          <a:ln w="8890">
            <a:solidFill>
              <a:srgbClr val="243B56"/>
            </a:solidFill>
            <a:prstDash val="solid"/>
          </a:ln>
        </p:spPr>
      </p:sp>
      <p:sp>
        <p:nvSpPr>
          <p:cNvPr id="23" name="Text 21"/>
          <p:cNvSpPr/>
          <p:nvPr/>
        </p:nvSpPr>
        <p:spPr>
          <a:xfrm>
            <a:off x="1078992" y="4370832"/>
            <a:ext cx="1371600" cy="283464"/>
          </a:xfrm>
          <a:prstGeom prst="rect">
            <a:avLst/>
          </a:prstGeom>
          <a:noFill/>
        </p:spPr>
        <p:txBody>
          <a:bodyPr wrap="square" lIns="0" tIns="0" rIns="0" bIns="0" rtlCol="0" anchor="ctr">
            <a:normAutofit/>
          </a:bodyPr>
          <a:lstStyle/>
          <a:p>
            <a:pPr marL="0" indent="0">
              <a:buNone/>
            </a:pPr>
            <a:r>
              <a:rPr lang="en-US" sz="2000" b="1" dirty="0">
                <a:solidFill>
                  <a:srgbClr val="F4F9FF"/>
                </a:solidFill>
                <a:latin typeface="Aptos" pitchFamily="34" charset="0"/>
                <a:ea typeface="Aptos" pitchFamily="34" charset="-122"/>
                <a:cs typeface="Aptos" pitchFamily="34" charset="-120"/>
              </a:rPr>
              <a:t>111</a:t>
            </a:r>
            <a:endParaRPr lang="en-US" sz="2000" dirty="0"/>
          </a:p>
        </p:txBody>
      </p:sp>
      <p:sp>
        <p:nvSpPr>
          <p:cNvPr id="24" name="Text 22"/>
          <p:cNvSpPr/>
          <p:nvPr/>
        </p:nvSpPr>
        <p:spPr>
          <a:xfrm>
            <a:off x="3063240" y="4370832"/>
            <a:ext cx="923544" cy="283464"/>
          </a:xfrm>
          <a:prstGeom prst="rect">
            <a:avLst/>
          </a:prstGeom>
          <a:noFill/>
        </p:spPr>
        <p:txBody>
          <a:bodyPr wrap="square" lIns="0" tIns="0" rIns="0" bIns="0" rtlCol="0" anchor="ctr">
            <a:normAutofit/>
          </a:bodyPr>
          <a:lstStyle/>
          <a:p>
            <a:pPr marL="0" indent="0" algn="r">
              <a:buNone/>
            </a:pPr>
            <a:r>
              <a:rPr lang="en-US" sz="1700" b="1" dirty="0">
                <a:solidFill>
                  <a:srgbClr val="60E5A5"/>
                </a:solidFill>
                <a:latin typeface="Aptos" pitchFamily="34" charset="0"/>
                <a:ea typeface="Aptos" pitchFamily="34" charset="-122"/>
                <a:cs typeface="Aptos" pitchFamily="34" charset="-120"/>
              </a:rPr>
              <a:t>25%</a:t>
            </a:r>
            <a:endParaRPr lang="en-US" sz="1700" dirty="0"/>
          </a:p>
        </p:txBody>
      </p:sp>
      <p:sp>
        <p:nvSpPr>
          <p:cNvPr id="25" name="Shape 23"/>
          <p:cNvSpPr/>
          <p:nvPr/>
        </p:nvSpPr>
        <p:spPr>
          <a:xfrm>
            <a:off x="4800600" y="2039112"/>
            <a:ext cx="6793992" cy="3108960"/>
          </a:xfrm>
          <a:prstGeom prst="roundRect">
            <a:avLst>
              <a:gd name="adj" fmla="val 5294"/>
            </a:avLst>
          </a:prstGeom>
          <a:solidFill>
            <a:srgbClr val="10233C"/>
          </a:solidFill>
          <a:ln w="8890">
            <a:solidFill>
              <a:srgbClr val="243B56"/>
            </a:solidFill>
            <a:prstDash val="solid"/>
          </a:ln>
        </p:spPr>
      </p:sp>
      <p:sp>
        <p:nvSpPr>
          <p:cNvPr id="26" name="Shape 24"/>
          <p:cNvSpPr/>
          <p:nvPr/>
        </p:nvSpPr>
        <p:spPr>
          <a:xfrm>
            <a:off x="4946904" y="2221992"/>
            <a:ext cx="36576" cy="2743200"/>
          </a:xfrm>
          <a:prstGeom prst="rect">
            <a:avLst/>
          </a:prstGeom>
          <a:solidFill>
            <a:srgbClr val="60E5A5"/>
          </a:solidFill>
          <a:ln w="12700">
            <a:solidFill>
              <a:srgbClr val="60E5A5"/>
            </a:solidFill>
            <a:prstDash val="solid"/>
          </a:ln>
        </p:spPr>
      </p:sp>
      <p:sp>
        <p:nvSpPr>
          <p:cNvPr id="27" name="Text 25"/>
          <p:cNvSpPr/>
          <p:nvPr/>
        </p:nvSpPr>
        <p:spPr>
          <a:xfrm>
            <a:off x="5129784" y="2240280"/>
            <a:ext cx="6281928"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MEASURED EQUATIONS</a:t>
            </a:r>
            <a:endParaRPr lang="en-US" sz="1700" dirty="0"/>
          </a:p>
        </p:txBody>
      </p:sp>
      <p:sp>
        <p:nvSpPr>
          <p:cNvPr id="28" name="Text 26"/>
          <p:cNvSpPr/>
          <p:nvPr/>
        </p:nvSpPr>
        <p:spPr>
          <a:xfrm>
            <a:off x="5129784" y="2633472"/>
            <a:ext cx="6254496" cy="2386584"/>
          </a:xfrm>
          <a:prstGeom prst="rect">
            <a:avLst/>
          </a:prstGeom>
          <a:noFill/>
        </p:spPr>
        <p:txBody>
          <a:bodyPr wrap="square" lIns="0" tIns="0" rIns="0" bIns="0" rtlCol="0" anchor="t">
            <a:normAutofit/>
          </a:bodyPr>
          <a:lstStyle/>
          <a:p>
            <a:pPr marL="0" indent="0">
              <a:buNone/>
            </a:pPr>
            <a:r>
              <a:rPr lang="en-US" sz="2000" dirty="0">
                <a:solidFill>
                  <a:srgbClr val="AAC1D7"/>
                </a:solidFill>
                <a:latin typeface="Aptos" pitchFamily="34" charset="0"/>
                <a:ea typeface="Aptos" pitchFamily="34" charset="-122"/>
                <a:cs typeface="Aptos" pitchFamily="34" charset="-120"/>
              </a:rPr>
              <a:t>y = 010  ⇒  k₁,middle = 0</a:t>
            </a:r>
            <a:endParaRPr lang="en-US" sz="2000" dirty="0"/>
          </a:p>
          <a:p>
            <a:pPr marL="0" indent="0">
              <a:buNone/>
            </a:pPr>
            <a:r>
              <a:rPr lang="en-US" sz="2000" dirty="0">
                <a:solidFill>
                  <a:srgbClr val="AAC1D7"/>
                </a:solidFill>
                <a:latin typeface="Aptos" pitchFamily="34" charset="0"/>
                <a:ea typeface="Aptos" pitchFamily="34" charset="-122"/>
                <a:cs typeface="Aptos" pitchFamily="34" charset="-120"/>
              </a:rPr>
              <a:t>y = 101  ⇒  k₁,left ⊕ k₁,right = 0</a:t>
            </a:r>
            <a:endParaRPr lang="en-US" sz="2000" dirty="0"/>
          </a:p>
          <a:p>
            <a:pPr marL="0" indent="0">
              <a:buNone/>
            </a:pPr>
            <a:r>
              <a:rPr lang="en-US" sz="2000" dirty="0">
                <a:solidFill>
                  <a:srgbClr val="AAC1D7"/>
                </a:solidFill>
                <a:latin typeface="Aptos" pitchFamily="34" charset="0"/>
                <a:ea typeface="Aptos" pitchFamily="34" charset="-122"/>
                <a:cs typeface="Aptos" pitchFamily="34" charset="-120"/>
              </a:rPr>
              <a:t>Possible periods: 000 or 101</a:t>
            </a:r>
            <a:endParaRPr lang="en-US" sz="2000" dirty="0"/>
          </a:p>
          <a:p>
            <a:pPr marL="0" indent="0">
              <a:buNone/>
            </a:pPr>
            <a:r>
              <a:rPr lang="en-US" sz="2000" dirty="0">
                <a:solidFill>
                  <a:srgbClr val="AAC1D7"/>
                </a:solidFill>
                <a:latin typeface="Aptos" pitchFamily="34" charset="0"/>
                <a:ea typeface="Aptos" pitchFamily="34" charset="-122"/>
                <a:cs typeface="Aptos" pitchFamily="34" charset="-120"/>
              </a:rPr>
              <a:t>Nonzero Simon period: k₁ = 101</a:t>
            </a:r>
            <a:endParaRPr lang="en-US" sz="2000" dirty="0"/>
          </a:p>
        </p:txBody>
      </p:sp>
      <p:sp>
        <p:nvSpPr>
          <p:cNvPr id="29" name="Shape 27"/>
          <p:cNvSpPr/>
          <p:nvPr/>
        </p:nvSpPr>
        <p:spPr>
          <a:xfrm>
            <a:off x="438912" y="5669280"/>
            <a:ext cx="11283696" cy="347472"/>
          </a:xfrm>
          <a:prstGeom prst="roundRect">
            <a:avLst>
              <a:gd name="adj" fmla="val 47368"/>
            </a:avLst>
          </a:prstGeom>
          <a:solidFill>
            <a:srgbClr val="152B47"/>
          </a:solidFill>
          <a:ln w="8890">
            <a:solidFill>
              <a:srgbClr val="152B47"/>
            </a:solidFill>
            <a:prstDash val="solid"/>
          </a:ln>
        </p:spPr>
      </p:sp>
      <p:sp>
        <p:nvSpPr>
          <p:cNvPr id="30" name="Text 28"/>
          <p:cNvSpPr/>
          <p:nvPr/>
        </p:nvSpPr>
        <p:spPr>
          <a:xfrm>
            <a:off x="640080" y="5701284"/>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Then recover k₂ = E(000) ⊕ P(101) = 010 ⊕ 001 = 011.</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08</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ALGORITHM CHOICE</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What else could we use — and why Simon?</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The right algorithm must match the hidden-XOR-period structure.</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08</a:t>
            </a:r>
            <a:endParaRPr lang="en-US" sz="900" dirty="0"/>
          </a:p>
        </p:txBody>
      </p:sp>
      <p:sp>
        <p:nvSpPr>
          <p:cNvPr id="11" name="Text 9"/>
          <p:cNvSpPr/>
          <p:nvPr/>
        </p:nvSpPr>
        <p:spPr>
          <a:xfrm>
            <a:off x="585216" y="2066544"/>
            <a:ext cx="3172968" cy="338328"/>
          </a:xfrm>
          <a:prstGeom prst="rect">
            <a:avLst/>
          </a:prstGeom>
          <a:noFill/>
        </p:spPr>
        <p:txBody>
          <a:bodyPr wrap="square" lIns="0" tIns="0" rIns="0" bIns="0" rtlCol="0" anchor="ctr">
            <a:normAutofit/>
          </a:bodyPr>
          <a:lstStyle/>
          <a:p>
            <a:pPr marL="0" indent="0">
              <a:buNone/>
            </a:pPr>
            <a:r>
              <a:rPr lang="en-US" sz="1300" b="1" dirty="0">
                <a:solidFill>
                  <a:srgbClr val="21D6C4"/>
                </a:solidFill>
                <a:latin typeface="Aptos" pitchFamily="34" charset="0"/>
                <a:ea typeface="Aptos" pitchFamily="34" charset="-122"/>
                <a:cs typeface="Aptos" pitchFamily="34" charset="-120"/>
              </a:rPr>
              <a:t>ALGORITHM</a:t>
            </a:r>
            <a:endParaRPr lang="en-US" sz="1300" dirty="0"/>
          </a:p>
        </p:txBody>
      </p:sp>
      <p:sp>
        <p:nvSpPr>
          <p:cNvPr id="12" name="Text 10"/>
          <p:cNvSpPr/>
          <p:nvPr/>
        </p:nvSpPr>
        <p:spPr>
          <a:xfrm>
            <a:off x="3794760" y="2066544"/>
            <a:ext cx="3666744" cy="338328"/>
          </a:xfrm>
          <a:prstGeom prst="rect">
            <a:avLst/>
          </a:prstGeom>
          <a:noFill/>
        </p:spPr>
        <p:txBody>
          <a:bodyPr wrap="square" lIns="0" tIns="0" rIns="0" bIns="0" rtlCol="0" anchor="ctr">
            <a:normAutofit/>
          </a:bodyPr>
          <a:lstStyle/>
          <a:p>
            <a:pPr marL="0" indent="0">
              <a:buNone/>
            </a:pPr>
            <a:r>
              <a:rPr lang="en-US" sz="1300" b="1" dirty="0">
                <a:solidFill>
                  <a:srgbClr val="21D6C4"/>
                </a:solidFill>
                <a:latin typeface="Aptos" pitchFamily="34" charset="0"/>
                <a:ea typeface="Aptos" pitchFamily="34" charset="-122"/>
                <a:cs typeface="Aptos" pitchFamily="34" charset="-120"/>
              </a:rPr>
              <a:t>IDEA</a:t>
            </a:r>
            <a:endParaRPr lang="en-US" sz="1300" dirty="0"/>
          </a:p>
        </p:txBody>
      </p:sp>
      <p:sp>
        <p:nvSpPr>
          <p:cNvPr id="13" name="Text 11"/>
          <p:cNvSpPr/>
          <p:nvPr/>
        </p:nvSpPr>
        <p:spPr>
          <a:xfrm>
            <a:off x="7498080" y="2066544"/>
            <a:ext cx="2606040" cy="338328"/>
          </a:xfrm>
          <a:prstGeom prst="rect">
            <a:avLst/>
          </a:prstGeom>
          <a:noFill/>
        </p:spPr>
        <p:txBody>
          <a:bodyPr wrap="square" lIns="0" tIns="0" rIns="0" bIns="0" rtlCol="0" anchor="ctr">
            <a:normAutofit/>
          </a:bodyPr>
          <a:lstStyle/>
          <a:p>
            <a:pPr marL="0" indent="0">
              <a:buNone/>
            </a:pPr>
            <a:r>
              <a:rPr lang="en-US" sz="1300" b="1" dirty="0">
                <a:solidFill>
                  <a:srgbClr val="21D6C4"/>
                </a:solidFill>
                <a:latin typeface="Aptos" pitchFamily="34" charset="0"/>
                <a:ea typeface="Aptos" pitchFamily="34" charset="-122"/>
                <a:cs typeface="Aptos" pitchFamily="34" charset="-120"/>
              </a:rPr>
              <a:t>QUERY GROWTH</a:t>
            </a:r>
            <a:endParaRPr lang="en-US" sz="1300" dirty="0"/>
          </a:p>
        </p:txBody>
      </p:sp>
      <p:sp>
        <p:nvSpPr>
          <p:cNvPr id="14" name="Text 12"/>
          <p:cNvSpPr/>
          <p:nvPr/>
        </p:nvSpPr>
        <p:spPr>
          <a:xfrm>
            <a:off x="10149840" y="2066544"/>
            <a:ext cx="1426464" cy="338328"/>
          </a:xfrm>
          <a:prstGeom prst="rect">
            <a:avLst/>
          </a:prstGeom>
          <a:noFill/>
        </p:spPr>
        <p:txBody>
          <a:bodyPr wrap="square" lIns="0" tIns="0" rIns="0" bIns="0" rtlCol="0" anchor="ctr">
            <a:normAutofit/>
          </a:bodyPr>
          <a:lstStyle/>
          <a:p>
            <a:pPr marL="0" indent="0">
              <a:buNone/>
            </a:pPr>
            <a:r>
              <a:rPr lang="en-US" sz="1300" b="1" dirty="0">
                <a:solidFill>
                  <a:srgbClr val="21D6C4"/>
                </a:solidFill>
                <a:latin typeface="Aptos" pitchFamily="34" charset="0"/>
                <a:ea typeface="Aptos" pitchFamily="34" charset="-122"/>
                <a:cs typeface="Aptos" pitchFamily="34" charset="-120"/>
              </a:rPr>
              <a:t>FIT</a:t>
            </a:r>
            <a:endParaRPr lang="en-US" sz="1300" dirty="0"/>
          </a:p>
        </p:txBody>
      </p:sp>
      <p:sp>
        <p:nvSpPr>
          <p:cNvPr id="15" name="Shape 13"/>
          <p:cNvSpPr/>
          <p:nvPr/>
        </p:nvSpPr>
        <p:spPr>
          <a:xfrm>
            <a:off x="521208" y="2478024"/>
            <a:ext cx="11109960" cy="438912"/>
          </a:xfrm>
          <a:prstGeom prst="roundRect">
            <a:avLst>
              <a:gd name="adj" fmla="val 37500"/>
            </a:avLst>
          </a:prstGeom>
          <a:solidFill>
            <a:srgbClr val="10233C"/>
          </a:solidFill>
          <a:ln w="8890">
            <a:solidFill>
              <a:srgbClr val="10233C"/>
            </a:solidFill>
            <a:prstDash val="solid"/>
          </a:ln>
        </p:spPr>
      </p:sp>
      <p:sp>
        <p:nvSpPr>
          <p:cNvPr id="16" name="Text 14"/>
          <p:cNvSpPr/>
          <p:nvPr/>
        </p:nvSpPr>
        <p:spPr>
          <a:xfrm>
            <a:off x="585216" y="2510028"/>
            <a:ext cx="3063240"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Classical brute force</a:t>
            </a:r>
            <a:endParaRPr lang="en-US" sz="1350" dirty="0"/>
          </a:p>
        </p:txBody>
      </p:sp>
      <p:sp>
        <p:nvSpPr>
          <p:cNvPr id="17" name="Text 15"/>
          <p:cNvSpPr/>
          <p:nvPr/>
        </p:nvSpPr>
        <p:spPr>
          <a:xfrm>
            <a:off x="3794760" y="2510028"/>
            <a:ext cx="3557016"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Guess candidate keys</a:t>
            </a:r>
            <a:endParaRPr lang="en-US" sz="1350" dirty="0"/>
          </a:p>
        </p:txBody>
      </p:sp>
      <p:sp>
        <p:nvSpPr>
          <p:cNvPr id="18" name="Text 16"/>
          <p:cNvSpPr/>
          <p:nvPr/>
        </p:nvSpPr>
        <p:spPr>
          <a:xfrm>
            <a:off x="7498080" y="2510028"/>
            <a:ext cx="2496312" cy="338328"/>
          </a:xfrm>
          <a:prstGeom prst="rect">
            <a:avLst/>
          </a:prstGeom>
          <a:noFill/>
        </p:spPr>
        <p:txBody>
          <a:bodyPr wrap="square" lIns="0" tIns="0" rIns="0" bIns="0" rtlCol="0" anchor="ctr">
            <a:normAutofit/>
          </a:bodyPr>
          <a:lstStyle/>
          <a:p>
            <a:pPr marL="0" indent="0">
              <a:buNone/>
            </a:pPr>
            <a:r>
              <a:rPr lang="en-US" sz="1500" dirty="0">
                <a:solidFill>
                  <a:srgbClr val="F4F9FF"/>
                </a:solidFill>
                <a:latin typeface="Aptos" pitchFamily="34" charset="0"/>
                <a:ea typeface="Aptos" pitchFamily="34" charset="-122"/>
                <a:cs typeface="Aptos" pitchFamily="34" charset="-120"/>
              </a:rPr>
              <a:t>O(2ⁿ) candidates</a:t>
            </a:r>
            <a:endParaRPr lang="en-US" sz="1500" dirty="0"/>
          </a:p>
        </p:txBody>
      </p:sp>
      <p:sp>
        <p:nvSpPr>
          <p:cNvPr id="19" name="Text 17"/>
          <p:cNvSpPr/>
          <p:nvPr/>
        </p:nvSpPr>
        <p:spPr>
          <a:xfrm>
            <a:off x="10149840" y="2510028"/>
            <a:ext cx="1316736" cy="338328"/>
          </a:xfrm>
          <a:prstGeom prst="rect">
            <a:avLst/>
          </a:prstGeom>
          <a:noFill/>
        </p:spPr>
        <p:txBody>
          <a:bodyPr wrap="square" lIns="0" tIns="0" rIns="0" bIns="0" rtlCol="0" anchor="ctr">
            <a:normAutofit/>
          </a:bodyPr>
          <a:lstStyle/>
          <a:p>
            <a:pPr marL="0" indent="0">
              <a:buNone/>
            </a:pPr>
            <a:r>
              <a:rPr lang="en-US" sz="1350" dirty="0">
                <a:solidFill>
                  <a:srgbClr val="AAC1D7"/>
                </a:solidFill>
                <a:latin typeface="Aptos" pitchFamily="34" charset="0"/>
                <a:ea typeface="Aptos" pitchFamily="34" charset="-122"/>
                <a:cs typeface="Aptos" pitchFamily="34" charset="-120"/>
              </a:rPr>
              <a:t>Slow</a:t>
            </a:r>
            <a:endParaRPr lang="en-US" sz="1350" dirty="0"/>
          </a:p>
        </p:txBody>
      </p:sp>
      <p:sp>
        <p:nvSpPr>
          <p:cNvPr id="20" name="Shape 18"/>
          <p:cNvSpPr/>
          <p:nvPr/>
        </p:nvSpPr>
        <p:spPr>
          <a:xfrm>
            <a:off x="521208" y="2962656"/>
            <a:ext cx="11109960" cy="438912"/>
          </a:xfrm>
          <a:prstGeom prst="roundRect">
            <a:avLst>
              <a:gd name="adj" fmla="val 37500"/>
            </a:avLst>
          </a:prstGeom>
          <a:solidFill>
            <a:srgbClr val="152B47"/>
          </a:solidFill>
          <a:ln w="8890">
            <a:solidFill>
              <a:srgbClr val="10233C"/>
            </a:solidFill>
            <a:prstDash val="solid"/>
          </a:ln>
        </p:spPr>
      </p:sp>
      <p:sp>
        <p:nvSpPr>
          <p:cNvPr id="21" name="Text 19"/>
          <p:cNvSpPr/>
          <p:nvPr/>
        </p:nvSpPr>
        <p:spPr>
          <a:xfrm>
            <a:off x="585216" y="2994660"/>
            <a:ext cx="3063240"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Birthday collision</a:t>
            </a:r>
            <a:endParaRPr lang="en-US" sz="1350" dirty="0"/>
          </a:p>
        </p:txBody>
      </p:sp>
      <p:sp>
        <p:nvSpPr>
          <p:cNvPr id="22" name="Text 20"/>
          <p:cNvSpPr/>
          <p:nvPr/>
        </p:nvSpPr>
        <p:spPr>
          <a:xfrm>
            <a:off x="3794760" y="2994660"/>
            <a:ext cx="3557016"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Search repeated f outputs</a:t>
            </a:r>
            <a:endParaRPr lang="en-US" sz="1350" dirty="0"/>
          </a:p>
        </p:txBody>
      </p:sp>
      <p:sp>
        <p:nvSpPr>
          <p:cNvPr id="23" name="Text 21"/>
          <p:cNvSpPr/>
          <p:nvPr/>
        </p:nvSpPr>
        <p:spPr>
          <a:xfrm>
            <a:off x="7498080" y="2994660"/>
            <a:ext cx="2496312" cy="338328"/>
          </a:xfrm>
          <a:prstGeom prst="rect">
            <a:avLst/>
          </a:prstGeom>
          <a:noFill/>
        </p:spPr>
        <p:txBody>
          <a:bodyPr wrap="square" lIns="0" tIns="0" rIns="0" bIns="0" rtlCol="0" anchor="ctr">
            <a:normAutofit/>
          </a:bodyPr>
          <a:lstStyle/>
          <a:p>
            <a:pPr marL="0" indent="0">
              <a:buNone/>
            </a:pPr>
            <a:r>
              <a:rPr lang="en-US" sz="1500" dirty="0">
                <a:solidFill>
                  <a:srgbClr val="F4F9FF"/>
                </a:solidFill>
                <a:latin typeface="Aptos" pitchFamily="34" charset="0"/>
                <a:ea typeface="Aptos" pitchFamily="34" charset="-122"/>
                <a:cs typeface="Aptos" pitchFamily="34" charset="-120"/>
              </a:rPr>
              <a:t>O(2ⁿᐟ²) queries</a:t>
            </a:r>
            <a:endParaRPr lang="en-US" sz="1500" dirty="0"/>
          </a:p>
        </p:txBody>
      </p:sp>
      <p:sp>
        <p:nvSpPr>
          <p:cNvPr id="24" name="Text 22"/>
          <p:cNvSpPr/>
          <p:nvPr/>
        </p:nvSpPr>
        <p:spPr>
          <a:xfrm>
            <a:off x="10149840" y="2994660"/>
            <a:ext cx="1316736" cy="338328"/>
          </a:xfrm>
          <a:prstGeom prst="rect">
            <a:avLst/>
          </a:prstGeom>
          <a:noFill/>
        </p:spPr>
        <p:txBody>
          <a:bodyPr wrap="square" lIns="0" tIns="0" rIns="0" bIns="0" rtlCol="0" anchor="ctr">
            <a:normAutofit/>
          </a:bodyPr>
          <a:lstStyle/>
          <a:p>
            <a:pPr marL="0" indent="0">
              <a:buNone/>
            </a:pPr>
            <a:r>
              <a:rPr lang="en-US" sz="1350" dirty="0">
                <a:solidFill>
                  <a:srgbClr val="AAC1D7"/>
                </a:solidFill>
                <a:latin typeface="Aptos" pitchFamily="34" charset="0"/>
                <a:ea typeface="Aptos" pitchFamily="34" charset="-122"/>
                <a:cs typeface="Aptos" pitchFamily="34" charset="-120"/>
              </a:rPr>
              <a:t>Classical baseline</a:t>
            </a:r>
            <a:endParaRPr lang="en-US" sz="1350" dirty="0"/>
          </a:p>
        </p:txBody>
      </p:sp>
      <p:sp>
        <p:nvSpPr>
          <p:cNvPr id="25" name="Shape 23"/>
          <p:cNvSpPr/>
          <p:nvPr/>
        </p:nvSpPr>
        <p:spPr>
          <a:xfrm>
            <a:off x="521208" y="3447288"/>
            <a:ext cx="11109960" cy="438912"/>
          </a:xfrm>
          <a:prstGeom prst="roundRect">
            <a:avLst>
              <a:gd name="adj" fmla="val 37500"/>
            </a:avLst>
          </a:prstGeom>
          <a:solidFill>
            <a:srgbClr val="10233C"/>
          </a:solidFill>
          <a:ln w="8890">
            <a:solidFill>
              <a:srgbClr val="10233C"/>
            </a:solidFill>
            <a:prstDash val="solid"/>
          </a:ln>
        </p:spPr>
      </p:sp>
      <p:sp>
        <p:nvSpPr>
          <p:cNvPr id="26" name="Text 24"/>
          <p:cNvSpPr/>
          <p:nvPr/>
        </p:nvSpPr>
        <p:spPr>
          <a:xfrm>
            <a:off x="585216" y="3479292"/>
            <a:ext cx="3063240"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Grover search</a:t>
            </a:r>
            <a:endParaRPr lang="en-US" sz="1350" dirty="0"/>
          </a:p>
        </p:txBody>
      </p:sp>
      <p:sp>
        <p:nvSpPr>
          <p:cNvPr id="27" name="Text 25"/>
          <p:cNvSpPr/>
          <p:nvPr/>
        </p:nvSpPr>
        <p:spPr>
          <a:xfrm>
            <a:off x="3794760" y="3479292"/>
            <a:ext cx="3557016"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Quantum candidate search</a:t>
            </a:r>
            <a:endParaRPr lang="en-US" sz="1350" dirty="0"/>
          </a:p>
        </p:txBody>
      </p:sp>
      <p:sp>
        <p:nvSpPr>
          <p:cNvPr id="28" name="Text 26"/>
          <p:cNvSpPr/>
          <p:nvPr/>
        </p:nvSpPr>
        <p:spPr>
          <a:xfrm>
            <a:off x="7498080" y="3479292"/>
            <a:ext cx="2496312" cy="338328"/>
          </a:xfrm>
          <a:prstGeom prst="rect">
            <a:avLst/>
          </a:prstGeom>
          <a:noFill/>
        </p:spPr>
        <p:txBody>
          <a:bodyPr wrap="square" lIns="0" tIns="0" rIns="0" bIns="0" rtlCol="0" anchor="ctr">
            <a:normAutofit/>
          </a:bodyPr>
          <a:lstStyle/>
          <a:p>
            <a:pPr marL="0" indent="0">
              <a:buNone/>
            </a:pPr>
            <a:r>
              <a:rPr lang="en-US" sz="1500" dirty="0">
                <a:solidFill>
                  <a:srgbClr val="F4F9FF"/>
                </a:solidFill>
                <a:latin typeface="Aptos" pitchFamily="34" charset="0"/>
                <a:ea typeface="Aptos" pitchFamily="34" charset="-122"/>
                <a:cs typeface="Aptos" pitchFamily="34" charset="-120"/>
              </a:rPr>
              <a:t>O(2ⁿᐟ²) checks</a:t>
            </a:r>
            <a:endParaRPr lang="en-US" sz="1500" dirty="0"/>
          </a:p>
        </p:txBody>
      </p:sp>
      <p:sp>
        <p:nvSpPr>
          <p:cNvPr id="29" name="Text 27"/>
          <p:cNvSpPr/>
          <p:nvPr/>
        </p:nvSpPr>
        <p:spPr>
          <a:xfrm>
            <a:off x="10149840" y="3479292"/>
            <a:ext cx="1316736" cy="338328"/>
          </a:xfrm>
          <a:prstGeom prst="rect">
            <a:avLst/>
          </a:prstGeom>
          <a:noFill/>
        </p:spPr>
        <p:txBody>
          <a:bodyPr wrap="square" lIns="0" tIns="0" rIns="0" bIns="0" rtlCol="0" anchor="ctr">
            <a:normAutofit/>
          </a:bodyPr>
          <a:lstStyle/>
          <a:p>
            <a:pPr marL="0" indent="0">
              <a:buNone/>
            </a:pPr>
            <a:r>
              <a:rPr lang="en-US" sz="1350" dirty="0">
                <a:solidFill>
                  <a:srgbClr val="AAC1D7"/>
                </a:solidFill>
                <a:latin typeface="Aptos" pitchFamily="34" charset="0"/>
                <a:ea typeface="Aptos" pitchFamily="34" charset="-122"/>
                <a:cs typeface="Aptos" pitchFamily="34" charset="-120"/>
              </a:rPr>
              <a:t>Extra verifier</a:t>
            </a:r>
            <a:endParaRPr lang="en-US" sz="1350" dirty="0"/>
          </a:p>
        </p:txBody>
      </p:sp>
      <p:sp>
        <p:nvSpPr>
          <p:cNvPr id="30" name="Shape 28"/>
          <p:cNvSpPr/>
          <p:nvPr/>
        </p:nvSpPr>
        <p:spPr>
          <a:xfrm>
            <a:off x="521208" y="3931920"/>
            <a:ext cx="11109960" cy="438912"/>
          </a:xfrm>
          <a:prstGeom prst="roundRect">
            <a:avLst>
              <a:gd name="adj" fmla="val 37500"/>
            </a:avLst>
          </a:prstGeom>
          <a:solidFill>
            <a:srgbClr val="152B47"/>
          </a:solidFill>
          <a:ln w="8890">
            <a:solidFill>
              <a:srgbClr val="10233C"/>
            </a:solidFill>
            <a:prstDash val="solid"/>
          </a:ln>
        </p:spPr>
      </p:sp>
      <p:sp>
        <p:nvSpPr>
          <p:cNvPr id="31" name="Text 29"/>
          <p:cNvSpPr/>
          <p:nvPr/>
        </p:nvSpPr>
        <p:spPr>
          <a:xfrm>
            <a:off x="585216" y="3963924"/>
            <a:ext cx="3063240"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Bernstein–Vazirani</a:t>
            </a:r>
            <a:endParaRPr lang="en-US" sz="1350" dirty="0"/>
          </a:p>
        </p:txBody>
      </p:sp>
      <p:sp>
        <p:nvSpPr>
          <p:cNvPr id="32" name="Text 30"/>
          <p:cNvSpPr/>
          <p:nvPr/>
        </p:nvSpPr>
        <p:spPr>
          <a:xfrm>
            <a:off x="3794760" y="3963924"/>
            <a:ext cx="3557016"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Recover linear parity mask</a:t>
            </a:r>
            <a:endParaRPr lang="en-US" sz="1350" dirty="0"/>
          </a:p>
        </p:txBody>
      </p:sp>
      <p:sp>
        <p:nvSpPr>
          <p:cNvPr id="33" name="Text 31"/>
          <p:cNvSpPr/>
          <p:nvPr/>
        </p:nvSpPr>
        <p:spPr>
          <a:xfrm>
            <a:off x="7498080" y="3963924"/>
            <a:ext cx="2496312" cy="338328"/>
          </a:xfrm>
          <a:prstGeom prst="rect">
            <a:avLst/>
          </a:prstGeom>
          <a:noFill/>
        </p:spPr>
        <p:txBody>
          <a:bodyPr wrap="square" lIns="0" tIns="0" rIns="0" bIns="0" rtlCol="0" anchor="ctr">
            <a:normAutofit/>
          </a:bodyPr>
          <a:lstStyle/>
          <a:p>
            <a:pPr marL="0" indent="0">
              <a:buNone/>
            </a:pPr>
            <a:r>
              <a:rPr lang="en-US" sz="1500" dirty="0">
                <a:solidFill>
                  <a:srgbClr val="F4F9FF"/>
                </a:solidFill>
                <a:latin typeface="Aptos" pitchFamily="34" charset="0"/>
                <a:ea typeface="Aptos" pitchFamily="34" charset="-122"/>
                <a:cs typeface="Aptos" pitchFamily="34" charset="-120"/>
              </a:rPr>
              <a:t>Not directly this promise</a:t>
            </a:r>
            <a:endParaRPr lang="en-US" sz="1500" dirty="0"/>
          </a:p>
        </p:txBody>
      </p:sp>
      <p:sp>
        <p:nvSpPr>
          <p:cNvPr id="34" name="Text 32"/>
          <p:cNvSpPr/>
          <p:nvPr/>
        </p:nvSpPr>
        <p:spPr>
          <a:xfrm>
            <a:off x="10149840" y="3963924"/>
            <a:ext cx="1316736" cy="338328"/>
          </a:xfrm>
          <a:prstGeom prst="rect">
            <a:avLst/>
          </a:prstGeom>
          <a:noFill/>
        </p:spPr>
        <p:txBody>
          <a:bodyPr wrap="square" lIns="0" tIns="0" rIns="0" bIns="0" rtlCol="0" anchor="ctr">
            <a:normAutofit/>
          </a:bodyPr>
          <a:lstStyle/>
          <a:p>
            <a:pPr marL="0" indent="0">
              <a:buNone/>
            </a:pPr>
            <a:r>
              <a:rPr lang="en-US" sz="1350" dirty="0">
                <a:solidFill>
                  <a:srgbClr val="AAC1D7"/>
                </a:solidFill>
                <a:latin typeface="Aptos" pitchFamily="34" charset="0"/>
                <a:ea typeface="Aptos" pitchFamily="34" charset="-122"/>
                <a:cs typeface="Aptos" pitchFamily="34" charset="-120"/>
              </a:rPr>
              <a:t>Different task</a:t>
            </a:r>
            <a:endParaRPr lang="en-US" sz="1350" dirty="0"/>
          </a:p>
        </p:txBody>
      </p:sp>
      <p:sp>
        <p:nvSpPr>
          <p:cNvPr id="35" name="Shape 33"/>
          <p:cNvSpPr/>
          <p:nvPr/>
        </p:nvSpPr>
        <p:spPr>
          <a:xfrm>
            <a:off x="521208" y="4416552"/>
            <a:ext cx="11109960" cy="438912"/>
          </a:xfrm>
          <a:prstGeom prst="roundRect">
            <a:avLst>
              <a:gd name="adj" fmla="val 37500"/>
            </a:avLst>
          </a:prstGeom>
          <a:solidFill>
            <a:srgbClr val="10233C"/>
          </a:solidFill>
          <a:ln w="8890">
            <a:solidFill>
              <a:srgbClr val="10233C"/>
            </a:solidFill>
            <a:prstDash val="solid"/>
          </a:ln>
        </p:spPr>
      </p:sp>
      <p:sp>
        <p:nvSpPr>
          <p:cNvPr id="36" name="Text 34"/>
          <p:cNvSpPr/>
          <p:nvPr/>
        </p:nvSpPr>
        <p:spPr>
          <a:xfrm>
            <a:off x="585216" y="4448556"/>
            <a:ext cx="3063240"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Deutsch–Jozsa / Shor</a:t>
            </a:r>
            <a:endParaRPr lang="en-US" sz="1350" dirty="0"/>
          </a:p>
        </p:txBody>
      </p:sp>
      <p:sp>
        <p:nvSpPr>
          <p:cNvPr id="37" name="Text 35"/>
          <p:cNvSpPr/>
          <p:nvPr/>
        </p:nvSpPr>
        <p:spPr>
          <a:xfrm>
            <a:off x="3794760" y="4448556"/>
            <a:ext cx="3557016" cy="338328"/>
          </a:xfrm>
          <a:prstGeom prst="rect">
            <a:avLst/>
          </a:prstGeom>
          <a:noFill/>
        </p:spPr>
        <p:txBody>
          <a:bodyPr wrap="square" lIns="0" tIns="0" rIns="0" bIns="0" rtlCol="0" anchor="ctr">
            <a:normAutofit/>
          </a:bodyPr>
          <a:lstStyle/>
          <a:p>
            <a:pPr marL="0" indent="0">
              <a:buNone/>
            </a:pPr>
            <a:r>
              <a:rPr lang="en-US" sz="1350" dirty="0">
                <a:solidFill>
                  <a:srgbClr val="F4F9FF"/>
                </a:solidFill>
                <a:latin typeface="Aptos" pitchFamily="34" charset="0"/>
                <a:ea typeface="Aptos" pitchFamily="34" charset="-122"/>
                <a:cs typeface="Aptos" pitchFamily="34" charset="-120"/>
              </a:rPr>
              <a:t>Other promised structures</a:t>
            </a:r>
            <a:endParaRPr lang="en-US" sz="1350" dirty="0"/>
          </a:p>
        </p:txBody>
      </p:sp>
      <p:sp>
        <p:nvSpPr>
          <p:cNvPr id="38" name="Text 36"/>
          <p:cNvSpPr/>
          <p:nvPr/>
        </p:nvSpPr>
        <p:spPr>
          <a:xfrm>
            <a:off x="7498080" y="4448556"/>
            <a:ext cx="2496312" cy="338328"/>
          </a:xfrm>
          <a:prstGeom prst="rect">
            <a:avLst/>
          </a:prstGeom>
          <a:noFill/>
        </p:spPr>
        <p:txBody>
          <a:bodyPr wrap="square" lIns="0" tIns="0" rIns="0" bIns="0" rtlCol="0" anchor="ctr">
            <a:normAutofit/>
          </a:bodyPr>
          <a:lstStyle/>
          <a:p>
            <a:pPr marL="0" indent="0">
              <a:buNone/>
            </a:pPr>
            <a:r>
              <a:rPr lang="en-US" sz="1500" dirty="0">
                <a:solidFill>
                  <a:srgbClr val="F4F9FF"/>
                </a:solidFill>
                <a:latin typeface="Aptos" pitchFamily="34" charset="0"/>
                <a:ea typeface="Aptos" pitchFamily="34" charset="-122"/>
                <a:cs typeface="Aptos" pitchFamily="34" charset="-120"/>
              </a:rPr>
              <a:t>Not direct XOR key recovery</a:t>
            </a:r>
            <a:endParaRPr lang="en-US" sz="1500" dirty="0"/>
          </a:p>
        </p:txBody>
      </p:sp>
      <p:sp>
        <p:nvSpPr>
          <p:cNvPr id="39" name="Text 37"/>
          <p:cNvSpPr/>
          <p:nvPr/>
        </p:nvSpPr>
        <p:spPr>
          <a:xfrm>
            <a:off x="10149840" y="4448556"/>
            <a:ext cx="1316736" cy="338328"/>
          </a:xfrm>
          <a:prstGeom prst="rect">
            <a:avLst/>
          </a:prstGeom>
          <a:noFill/>
        </p:spPr>
        <p:txBody>
          <a:bodyPr wrap="square" lIns="0" tIns="0" rIns="0" bIns="0" rtlCol="0" anchor="ctr">
            <a:normAutofit/>
          </a:bodyPr>
          <a:lstStyle/>
          <a:p>
            <a:pPr marL="0" indent="0">
              <a:buNone/>
            </a:pPr>
            <a:r>
              <a:rPr lang="en-US" sz="1350" dirty="0">
                <a:solidFill>
                  <a:srgbClr val="AAC1D7"/>
                </a:solidFill>
                <a:latin typeface="Aptos" pitchFamily="34" charset="0"/>
                <a:ea typeface="Aptos" pitchFamily="34" charset="-122"/>
                <a:cs typeface="Aptos" pitchFamily="34" charset="-120"/>
              </a:rPr>
              <a:t>Mismatch</a:t>
            </a:r>
            <a:endParaRPr lang="en-US" sz="1350" dirty="0"/>
          </a:p>
        </p:txBody>
      </p:sp>
      <p:sp>
        <p:nvSpPr>
          <p:cNvPr id="40" name="Shape 38"/>
          <p:cNvSpPr/>
          <p:nvPr/>
        </p:nvSpPr>
        <p:spPr>
          <a:xfrm>
            <a:off x="521208" y="4901184"/>
            <a:ext cx="11109960" cy="438912"/>
          </a:xfrm>
          <a:prstGeom prst="roundRect">
            <a:avLst>
              <a:gd name="adj" fmla="val 37500"/>
            </a:avLst>
          </a:prstGeom>
          <a:solidFill>
            <a:srgbClr val="114035"/>
          </a:solidFill>
          <a:ln w="8890">
            <a:solidFill>
              <a:srgbClr val="176554"/>
            </a:solidFill>
            <a:prstDash val="solid"/>
          </a:ln>
        </p:spPr>
      </p:sp>
      <p:sp>
        <p:nvSpPr>
          <p:cNvPr id="41" name="Text 39"/>
          <p:cNvSpPr/>
          <p:nvPr/>
        </p:nvSpPr>
        <p:spPr>
          <a:xfrm>
            <a:off x="585216" y="4933188"/>
            <a:ext cx="3063240" cy="338328"/>
          </a:xfrm>
          <a:prstGeom prst="rect">
            <a:avLst/>
          </a:prstGeom>
          <a:noFill/>
        </p:spPr>
        <p:txBody>
          <a:bodyPr wrap="square" lIns="0" tIns="0" rIns="0" bIns="0" rtlCol="0" anchor="ctr">
            <a:normAutofit/>
          </a:bodyPr>
          <a:lstStyle/>
          <a:p>
            <a:pPr marL="0" indent="0">
              <a:buNone/>
            </a:pPr>
            <a:r>
              <a:rPr lang="en-US" sz="1350" b="1" dirty="0">
                <a:solidFill>
                  <a:srgbClr val="60E5A5"/>
                </a:solidFill>
                <a:latin typeface="Aptos" pitchFamily="34" charset="0"/>
                <a:ea typeface="Aptos" pitchFamily="34" charset="-122"/>
                <a:cs typeface="Aptos" pitchFamily="34" charset="-120"/>
              </a:rPr>
              <a:t>SIMON</a:t>
            </a:r>
            <a:endParaRPr lang="en-US" sz="1350" dirty="0"/>
          </a:p>
        </p:txBody>
      </p:sp>
      <p:sp>
        <p:nvSpPr>
          <p:cNvPr id="42" name="Text 40"/>
          <p:cNvSpPr/>
          <p:nvPr/>
        </p:nvSpPr>
        <p:spPr>
          <a:xfrm>
            <a:off x="3794760" y="4933188"/>
            <a:ext cx="3557016" cy="338328"/>
          </a:xfrm>
          <a:prstGeom prst="rect">
            <a:avLst/>
          </a:prstGeom>
          <a:noFill/>
        </p:spPr>
        <p:txBody>
          <a:bodyPr wrap="square" lIns="0" tIns="0" rIns="0" bIns="0" rtlCol="0" anchor="ctr">
            <a:normAutofit/>
          </a:bodyPr>
          <a:lstStyle/>
          <a:p>
            <a:pPr marL="0" indent="0">
              <a:buNone/>
            </a:pPr>
            <a:r>
              <a:rPr lang="en-US" sz="1350" b="1" dirty="0">
                <a:solidFill>
                  <a:srgbClr val="60E5A5"/>
                </a:solidFill>
                <a:latin typeface="Aptos" pitchFamily="34" charset="0"/>
                <a:ea typeface="Aptos" pitchFamily="34" charset="-122"/>
                <a:cs typeface="Aptos" pitchFamily="34" charset="-120"/>
              </a:rPr>
              <a:t>Find hidden XOR period</a:t>
            </a:r>
            <a:endParaRPr lang="en-US" sz="1350" dirty="0"/>
          </a:p>
        </p:txBody>
      </p:sp>
      <p:sp>
        <p:nvSpPr>
          <p:cNvPr id="43" name="Text 41"/>
          <p:cNvSpPr/>
          <p:nvPr/>
        </p:nvSpPr>
        <p:spPr>
          <a:xfrm>
            <a:off x="7498080" y="4933188"/>
            <a:ext cx="2496312" cy="338328"/>
          </a:xfrm>
          <a:prstGeom prst="rect">
            <a:avLst/>
          </a:prstGeom>
          <a:noFill/>
        </p:spPr>
        <p:txBody>
          <a:bodyPr wrap="square" lIns="0" tIns="0" rIns="0" bIns="0" rtlCol="0" anchor="ctr">
            <a:normAutofit/>
          </a:bodyPr>
          <a:lstStyle/>
          <a:p>
            <a:pPr marL="0" indent="0">
              <a:buNone/>
            </a:pPr>
            <a:r>
              <a:rPr lang="en-US" sz="1500" b="1" dirty="0">
                <a:solidFill>
                  <a:srgbClr val="60E5A5"/>
                </a:solidFill>
                <a:latin typeface="Aptos" pitchFamily="34" charset="0"/>
                <a:ea typeface="Aptos" pitchFamily="34" charset="-122"/>
                <a:cs typeface="Aptos" pitchFamily="34" charset="-120"/>
              </a:rPr>
              <a:t>O(n) queries</a:t>
            </a:r>
            <a:endParaRPr lang="en-US" sz="1500" dirty="0"/>
          </a:p>
        </p:txBody>
      </p:sp>
      <p:sp>
        <p:nvSpPr>
          <p:cNvPr id="44" name="Text 42"/>
          <p:cNvSpPr/>
          <p:nvPr/>
        </p:nvSpPr>
        <p:spPr>
          <a:xfrm>
            <a:off x="10149840" y="4933188"/>
            <a:ext cx="1316736" cy="338328"/>
          </a:xfrm>
          <a:prstGeom prst="rect">
            <a:avLst/>
          </a:prstGeom>
          <a:noFill/>
        </p:spPr>
        <p:txBody>
          <a:bodyPr wrap="square" lIns="0" tIns="0" rIns="0" bIns="0" rtlCol="0" anchor="ctr">
            <a:normAutofit/>
          </a:bodyPr>
          <a:lstStyle/>
          <a:p>
            <a:pPr marL="0" indent="0">
              <a:buNone/>
            </a:pPr>
            <a:r>
              <a:rPr lang="en-US" sz="1350" b="1" dirty="0">
                <a:solidFill>
                  <a:srgbClr val="60E5A5"/>
                </a:solidFill>
                <a:latin typeface="Aptos" pitchFamily="34" charset="0"/>
                <a:ea typeface="Aptos" pitchFamily="34" charset="-122"/>
                <a:cs typeface="Aptos" pitchFamily="34" charset="-120"/>
              </a:rPr>
              <a:t>BEST FIT</a:t>
            </a:r>
            <a:endParaRPr lang="en-US" sz="1350" dirty="0"/>
          </a:p>
        </p:txBody>
      </p:sp>
      <p:sp>
        <p:nvSpPr>
          <p:cNvPr id="45" name="Shape 43"/>
          <p:cNvSpPr/>
          <p:nvPr/>
        </p:nvSpPr>
        <p:spPr>
          <a:xfrm>
            <a:off x="438912" y="5669280"/>
            <a:ext cx="11283696" cy="347472"/>
          </a:xfrm>
          <a:prstGeom prst="roundRect">
            <a:avLst>
              <a:gd name="adj" fmla="val 47368"/>
            </a:avLst>
          </a:prstGeom>
          <a:solidFill>
            <a:srgbClr val="152B47"/>
          </a:solidFill>
          <a:ln w="8890">
            <a:solidFill>
              <a:srgbClr val="152B47"/>
            </a:solidFill>
            <a:prstDash val="solid"/>
          </a:ln>
        </p:spPr>
      </p:sp>
      <p:sp>
        <p:nvSpPr>
          <p:cNvPr id="46" name="Text 44"/>
          <p:cNvSpPr/>
          <p:nvPr/>
        </p:nvSpPr>
        <p:spPr>
          <a:xfrm>
            <a:off x="640080" y="5701284"/>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FFC76B"/>
                </a:solidFill>
                <a:latin typeface="Aptos" pitchFamily="34" charset="0"/>
                <a:ea typeface="Aptos" pitchFamily="34" charset="-122"/>
                <a:cs typeface="Aptos" pitchFamily="34" charset="-120"/>
              </a:rPr>
              <a:t>Simon is the direct method for exact XOR-period finding; not necessarily the fastest 3-bit laptop program.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09</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WHY THE SELECTED SOLUTION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Why Simon has the relevant quantum advantage</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An asymptotic query advantage — not a measured laptop speedup.</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09</a:t>
            </a:r>
            <a:endParaRPr lang="en-US" sz="900" dirty="0"/>
          </a:p>
        </p:txBody>
      </p:sp>
      <p:sp>
        <p:nvSpPr>
          <p:cNvPr id="11" name="Shape 9"/>
          <p:cNvSpPr/>
          <p:nvPr/>
        </p:nvSpPr>
        <p:spPr>
          <a:xfrm>
            <a:off x="530352" y="2075688"/>
            <a:ext cx="6455664" cy="3374136"/>
          </a:xfrm>
          <a:prstGeom prst="roundRect">
            <a:avLst>
              <a:gd name="adj" fmla="val 4878"/>
            </a:avLst>
          </a:prstGeom>
          <a:solidFill>
            <a:srgbClr val="FFFFFF"/>
          </a:solidFill>
          <a:ln w="8890">
            <a:solidFill>
              <a:srgbClr val="FFFFFF"/>
            </a:solidFill>
            <a:prstDash val="solid"/>
          </a:ln>
        </p:spPr>
      </p:sp>
      <p:pic>
        <p:nvPicPr>
          <p:cNvPr id="12" name="Image 0" descr="/mnt/data/_quantum_build/complexity.png"/>
          <p:cNvPicPr>
            <a:picLocks noChangeAspect="1"/>
          </p:cNvPicPr>
          <p:nvPr/>
        </p:nvPicPr>
        <p:blipFill>
          <a:blip r:embed="rId1"/>
          <a:stretch>
            <a:fillRect/>
          </a:stretch>
        </p:blipFill>
        <p:spPr>
          <a:xfrm>
            <a:off x="758952" y="2340864"/>
            <a:ext cx="6025896" cy="2916936"/>
          </a:xfrm>
          <a:prstGeom prst="rect">
            <a:avLst/>
          </a:prstGeom>
        </p:spPr>
      </p:pic>
      <p:sp>
        <p:nvSpPr>
          <p:cNvPr id="13" name="Shape 10"/>
          <p:cNvSpPr/>
          <p:nvPr/>
        </p:nvSpPr>
        <p:spPr>
          <a:xfrm>
            <a:off x="7187184" y="2084832"/>
            <a:ext cx="4425696" cy="1353312"/>
          </a:xfrm>
          <a:prstGeom prst="roundRect">
            <a:avLst>
              <a:gd name="adj" fmla="val 12162"/>
            </a:avLst>
          </a:prstGeom>
          <a:solidFill>
            <a:srgbClr val="10233C"/>
          </a:solidFill>
          <a:ln w="8890">
            <a:solidFill>
              <a:srgbClr val="243B56"/>
            </a:solidFill>
            <a:prstDash val="solid"/>
          </a:ln>
        </p:spPr>
      </p:sp>
      <p:sp>
        <p:nvSpPr>
          <p:cNvPr id="14" name="Shape 11"/>
          <p:cNvSpPr/>
          <p:nvPr/>
        </p:nvSpPr>
        <p:spPr>
          <a:xfrm>
            <a:off x="7333488" y="2267712"/>
            <a:ext cx="36576" cy="987552"/>
          </a:xfrm>
          <a:prstGeom prst="rect">
            <a:avLst/>
          </a:prstGeom>
          <a:solidFill>
            <a:srgbClr val="60E5A5"/>
          </a:solidFill>
          <a:ln w="12700">
            <a:solidFill>
              <a:srgbClr val="60E5A5"/>
            </a:solidFill>
            <a:prstDash val="solid"/>
          </a:ln>
        </p:spPr>
      </p:sp>
      <p:sp>
        <p:nvSpPr>
          <p:cNvPr id="15" name="Text 12"/>
          <p:cNvSpPr/>
          <p:nvPr/>
        </p:nvSpPr>
        <p:spPr>
          <a:xfrm>
            <a:off x="7516368" y="2286000"/>
            <a:ext cx="391363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SIMON: O(n)</a:t>
            </a:r>
            <a:endParaRPr lang="en-US" sz="1700" dirty="0"/>
          </a:p>
        </p:txBody>
      </p:sp>
      <p:sp>
        <p:nvSpPr>
          <p:cNvPr id="16" name="Text 13"/>
          <p:cNvSpPr/>
          <p:nvPr/>
        </p:nvSpPr>
        <p:spPr>
          <a:xfrm>
            <a:off x="7516368" y="2679192"/>
            <a:ext cx="3886200" cy="630936"/>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One linear equation per quantum sample; solve over GF(2).</a:t>
            </a:r>
            <a:endParaRPr lang="en-US" sz="1500" dirty="0"/>
          </a:p>
        </p:txBody>
      </p:sp>
      <p:sp>
        <p:nvSpPr>
          <p:cNvPr id="17" name="Shape 14"/>
          <p:cNvSpPr/>
          <p:nvPr/>
        </p:nvSpPr>
        <p:spPr>
          <a:xfrm>
            <a:off x="7187184" y="3611880"/>
            <a:ext cx="4425696" cy="1380744"/>
          </a:xfrm>
          <a:prstGeom prst="roundRect">
            <a:avLst>
              <a:gd name="adj" fmla="val 11921"/>
            </a:avLst>
          </a:prstGeom>
          <a:solidFill>
            <a:srgbClr val="10233C"/>
          </a:solidFill>
          <a:ln w="8890">
            <a:solidFill>
              <a:srgbClr val="243B56"/>
            </a:solidFill>
            <a:prstDash val="solid"/>
          </a:ln>
        </p:spPr>
      </p:sp>
      <p:sp>
        <p:nvSpPr>
          <p:cNvPr id="18" name="Shape 15"/>
          <p:cNvSpPr/>
          <p:nvPr/>
        </p:nvSpPr>
        <p:spPr>
          <a:xfrm>
            <a:off x="7333488" y="3794760"/>
            <a:ext cx="36576" cy="1014984"/>
          </a:xfrm>
          <a:prstGeom prst="rect">
            <a:avLst/>
          </a:prstGeom>
          <a:solidFill>
            <a:srgbClr val="FFC76B"/>
          </a:solidFill>
          <a:ln w="12700">
            <a:solidFill>
              <a:srgbClr val="FFC76B"/>
            </a:solidFill>
            <a:prstDash val="solid"/>
          </a:ln>
        </p:spPr>
      </p:sp>
      <p:sp>
        <p:nvSpPr>
          <p:cNvPr id="19" name="Text 16"/>
          <p:cNvSpPr/>
          <p:nvPr/>
        </p:nvSpPr>
        <p:spPr>
          <a:xfrm>
            <a:off x="7516368" y="3813048"/>
            <a:ext cx="391363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CLASSICAL: O(2ⁿᐟ²)</a:t>
            </a:r>
            <a:endParaRPr lang="en-US" sz="1700" dirty="0"/>
          </a:p>
        </p:txBody>
      </p:sp>
      <p:sp>
        <p:nvSpPr>
          <p:cNvPr id="20" name="Text 17"/>
          <p:cNvSpPr/>
          <p:nvPr/>
        </p:nvSpPr>
        <p:spPr>
          <a:xfrm>
            <a:off x="7516368" y="4206240"/>
            <a:ext cx="3886200" cy="658368"/>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Birthday collision search in the same black-box model.</a:t>
            </a:r>
            <a:endParaRPr lang="en-US" sz="1500" dirty="0"/>
          </a:p>
        </p:txBody>
      </p:sp>
      <p:sp>
        <p:nvSpPr>
          <p:cNvPr id="21" name="Shape 18"/>
          <p:cNvSpPr/>
          <p:nvPr/>
        </p:nvSpPr>
        <p:spPr>
          <a:xfrm>
            <a:off x="438912" y="5797296"/>
            <a:ext cx="11283696" cy="347472"/>
          </a:xfrm>
          <a:prstGeom prst="roundRect">
            <a:avLst>
              <a:gd name="adj" fmla="val 47368"/>
            </a:avLst>
          </a:prstGeom>
          <a:solidFill>
            <a:srgbClr val="152B47"/>
          </a:solidFill>
          <a:ln w="8890">
            <a:solidFill>
              <a:srgbClr val="152B47"/>
            </a:solidFill>
            <a:prstDash val="solid"/>
          </a:ln>
        </p:spPr>
      </p:sp>
      <p:sp>
        <p:nvSpPr>
          <p:cNvPr id="22" name="Text 19"/>
          <p:cNvSpPr/>
          <p:nvPr/>
        </p:nvSpPr>
        <p:spPr>
          <a:xfrm>
            <a:off x="640080" y="5829300"/>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FFC76B"/>
                </a:solidFill>
                <a:latin typeface="Aptos" pitchFamily="34" charset="0"/>
                <a:ea typeface="Aptos" pitchFamily="34" charset="-122"/>
                <a:cs typeface="Aptos" pitchFamily="34" charset="-120"/>
              </a:rPr>
              <a:t>Important: the two-to-one promise and coherent oracle access are required.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10</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IMPLEMENTATION DESIGN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How we implemented and tested the algorithm</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The experiment includes a genuine reversible quantum oracle.</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10</a:t>
            </a:r>
            <a:endParaRPr lang="en-US" sz="900" dirty="0"/>
          </a:p>
        </p:txBody>
      </p:sp>
      <p:sp>
        <p:nvSpPr>
          <p:cNvPr id="11" name="Shape 9"/>
          <p:cNvSpPr/>
          <p:nvPr/>
        </p:nvSpPr>
        <p:spPr>
          <a:xfrm>
            <a:off x="630936" y="1984248"/>
            <a:ext cx="6675120" cy="594360"/>
          </a:xfrm>
          <a:prstGeom prst="roundRect">
            <a:avLst>
              <a:gd name="adj" fmla="val 27692"/>
            </a:avLst>
          </a:prstGeom>
          <a:solidFill>
            <a:srgbClr val="152B47"/>
          </a:solidFill>
          <a:ln w="8890">
            <a:solidFill>
              <a:srgbClr val="243B56"/>
            </a:solidFill>
            <a:prstDash val="solid"/>
          </a:ln>
        </p:spPr>
      </p:sp>
      <p:sp>
        <p:nvSpPr>
          <p:cNvPr id="12" name="Text 10"/>
          <p:cNvSpPr/>
          <p:nvPr/>
        </p:nvSpPr>
        <p:spPr>
          <a:xfrm>
            <a:off x="896112" y="2093976"/>
            <a:ext cx="548640" cy="338328"/>
          </a:xfrm>
          <a:prstGeom prst="rect">
            <a:avLst/>
          </a:prstGeom>
          <a:noFill/>
        </p:spPr>
        <p:txBody>
          <a:bodyPr wrap="square" lIns="0" tIns="0" rIns="0" bIns="0" rtlCol="0" anchor="ctr">
            <a:normAutofit/>
          </a:bodyPr>
          <a:lstStyle/>
          <a:p>
            <a:pPr marL="0" indent="0">
              <a:buNone/>
            </a:pPr>
            <a:r>
              <a:rPr lang="en-US" sz="1700" b="1" dirty="0">
                <a:solidFill>
                  <a:srgbClr val="21D6C4"/>
                </a:solidFill>
                <a:latin typeface="Aptos" pitchFamily="34" charset="0"/>
                <a:ea typeface="Aptos" pitchFamily="34" charset="-122"/>
                <a:cs typeface="Aptos" pitchFamily="34" charset="-120"/>
              </a:rPr>
              <a:t>01</a:t>
            </a:r>
            <a:endParaRPr lang="en-US" sz="1700" dirty="0"/>
          </a:p>
        </p:txBody>
      </p:sp>
      <p:sp>
        <p:nvSpPr>
          <p:cNvPr id="13" name="Text 11"/>
          <p:cNvSpPr/>
          <p:nvPr/>
        </p:nvSpPr>
        <p:spPr>
          <a:xfrm>
            <a:off x="1609344" y="2057400"/>
            <a:ext cx="1252728" cy="365760"/>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DEFINE</a:t>
            </a:r>
            <a:endParaRPr lang="en-US" sz="1500" dirty="0"/>
          </a:p>
        </p:txBody>
      </p:sp>
      <p:sp>
        <p:nvSpPr>
          <p:cNvPr id="14" name="Text 12"/>
          <p:cNvSpPr/>
          <p:nvPr/>
        </p:nvSpPr>
        <p:spPr>
          <a:xfrm>
            <a:off x="2807208" y="2066544"/>
            <a:ext cx="4206240" cy="347472"/>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3-bit P, simulated cipher keys</a:t>
            </a:r>
            <a:endParaRPr lang="en-US" sz="1500" dirty="0"/>
          </a:p>
        </p:txBody>
      </p:sp>
      <p:sp>
        <p:nvSpPr>
          <p:cNvPr id="15" name="Shape 13"/>
          <p:cNvSpPr/>
          <p:nvPr/>
        </p:nvSpPr>
        <p:spPr>
          <a:xfrm>
            <a:off x="630936" y="2688336"/>
            <a:ext cx="6675120" cy="594360"/>
          </a:xfrm>
          <a:prstGeom prst="roundRect">
            <a:avLst>
              <a:gd name="adj" fmla="val 27692"/>
            </a:avLst>
          </a:prstGeom>
          <a:solidFill>
            <a:srgbClr val="152B47"/>
          </a:solidFill>
          <a:ln w="8890">
            <a:solidFill>
              <a:srgbClr val="243B56"/>
            </a:solidFill>
            <a:prstDash val="solid"/>
          </a:ln>
        </p:spPr>
      </p:sp>
      <p:sp>
        <p:nvSpPr>
          <p:cNvPr id="16" name="Text 14"/>
          <p:cNvSpPr/>
          <p:nvPr/>
        </p:nvSpPr>
        <p:spPr>
          <a:xfrm>
            <a:off x="896112" y="2798064"/>
            <a:ext cx="548640" cy="338328"/>
          </a:xfrm>
          <a:prstGeom prst="rect">
            <a:avLst/>
          </a:prstGeom>
          <a:noFill/>
        </p:spPr>
        <p:txBody>
          <a:bodyPr wrap="square" lIns="0" tIns="0" rIns="0" bIns="0" rtlCol="0" anchor="ctr">
            <a:normAutofit/>
          </a:bodyPr>
          <a:lstStyle/>
          <a:p>
            <a:pPr marL="0" indent="0">
              <a:buNone/>
            </a:pPr>
            <a:r>
              <a:rPr lang="en-US" sz="1700" b="1" dirty="0">
                <a:solidFill>
                  <a:srgbClr val="21D6C4"/>
                </a:solidFill>
                <a:latin typeface="Aptos" pitchFamily="34" charset="0"/>
                <a:ea typeface="Aptos" pitchFamily="34" charset="-122"/>
                <a:cs typeface="Aptos" pitchFamily="34" charset="-120"/>
              </a:rPr>
              <a:t>02</a:t>
            </a:r>
            <a:endParaRPr lang="en-US" sz="1700" dirty="0"/>
          </a:p>
        </p:txBody>
      </p:sp>
      <p:sp>
        <p:nvSpPr>
          <p:cNvPr id="17" name="Text 15"/>
          <p:cNvSpPr/>
          <p:nvPr/>
        </p:nvSpPr>
        <p:spPr>
          <a:xfrm>
            <a:off x="1609344" y="2761488"/>
            <a:ext cx="1252728" cy="365760"/>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BUILD</a:t>
            </a:r>
            <a:endParaRPr lang="en-US" sz="1500" dirty="0"/>
          </a:p>
        </p:txBody>
      </p:sp>
      <p:sp>
        <p:nvSpPr>
          <p:cNvPr id="18" name="Text 16"/>
          <p:cNvSpPr/>
          <p:nvPr/>
        </p:nvSpPr>
        <p:spPr>
          <a:xfrm>
            <a:off x="2807208" y="2770632"/>
            <a:ext cx="4206240" cy="347472"/>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Reversible U_E and U_P gates</a:t>
            </a:r>
            <a:endParaRPr lang="en-US" sz="1500" dirty="0"/>
          </a:p>
        </p:txBody>
      </p:sp>
      <p:sp>
        <p:nvSpPr>
          <p:cNvPr id="19" name="Shape 17"/>
          <p:cNvSpPr/>
          <p:nvPr/>
        </p:nvSpPr>
        <p:spPr>
          <a:xfrm>
            <a:off x="630936" y="3392424"/>
            <a:ext cx="6675120" cy="594360"/>
          </a:xfrm>
          <a:prstGeom prst="roundRect">
            <a:avLst>
              <a:gd name="adj" fmla="val 27692"/>
            </a:avLst>
          </a:prstGeom>
          <a:solidFill>
            <a:srgbClr val="152B47"/>
          </a:solidFill>
          <a:ln w="8890">
            <a:solidFill>
              <a:srgbClr val="243B56"/>
            </a:solidFill>
            <a:prstDash val="solid"/>
          </a:ln>
        </p:spPr>
      </p:sp>
      <p:sp>
        <p:nvSpPr>
          <p:cNvPr id="20" name="Text 18"/>
          <p:cNvSpPr/>
          <p:nvPr/>
        </p:nvSpPr>
        <p:spPr>
          <a:xfrm>
            <a:off x="896112" y="3502152"/>
            <a:ext cx="548640" cy="338328"/>
          </a:xfrm>
          <a:prstGeom prst="rect">
            <a:avLst/>
          </a:prstGeom>
          <a:noFill/>
        </p:spPr>
        <p:txBody>
          <a:bodyPr wrap="square" lIns="0" tIns="0" rIns="0" bIns="0" rtlCol="0" anchor="ctr">
            <a:normAutofit/>
          </a:bodyPr>
          <a:lstStyle/>
          <a:p>
            <a:pPr marL="0" indent="0">
              <a:buNone/>
            </a:pPr>
            <a:r>
              <a:rPr lang="en-US" sz="1700" b="1" dirty="0">
                <a:solidFill>
                  <a:srgbClr val="21D6C4"/>
                </a:solidFill>
                <a:latin typeface="Aptos" pitchFamily="34" charset="0"/>
                <a:ea typeface="Aptos" pitchFamily="34" charset="-122"/>
                <a:cs typeface="Aptos" pitchFamily="34" charset="-120"/>
              </a:rPr>
              <a:t>03</a:t>
            </a:r>
            <a:endParaRPr lang="en-US" sz="1700" dirty="0"/>
          </a:p>
        </p:txBody>
      </p:sp>
      <p:sp>
        <p:nvSpPr>
          <p:cNvPr id="21" name="Text 19"/>
          <p:cNvSpPr/>
          <p:nvPr/>
        </p:nvSpPr>
        <p:spPr>
          <a:xfrm>
            <a:off x="1609344" y="3465576"/>
            <a:ext cx="1252728" cy="365760"/>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EXECUTE</a:t>
            </a:r>
            <a:endParaRPr lang="en-US" sz="1500" dirty="0"/>
          </a:p>
        </p:txBody>
      </p:sp>
      <p:sp>
        <p:nvSpPr>
          <p:cNvPr id="22" name="Text 20"/>
          <p:cNvSpPr/>
          <p:nvPr/>
        </p:nvSpPr>
        <p:spPr>
          <a:xfrm>
            <a:off x="2807208" y="3474720"/>
            <a:ext cx="4206240" cy="347472"/>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H → U_E → U_P → H → measure</a:t>
            </a:r>
            <a:endParaRPr lang="en-US" sz="1500" dirty="0"/>
          </a:p>
        </p:txBody>
      </p:sp>
      <p:sp>
        <p:nvSpPr>
          <p:cNvPr id="23" name="Shape 21"/>
          <p:cNvSpPr/>
          <p:nvPr/>
        </p:nvSpPr>
        <p:spPr>
          <a:xfrm>
            <a:off x="630936" y="4096512"/>
            <a:ext cx="6675120" cy="594360"/>
          </a:xfrm>
          <a:prstGeom prst="roundRect">
            <a:avLst>
              <a:gd name="adj" fmla="val 27692"/>
            </a:avLst>
          </a:prstGeom>
          <a:solidFill>
            <a:srgbClr val="152B47"/>
          </a:solidFill>
          <a:ln w="8890">
            <a:solidFill>
              <a:srgbClr val="243B56"/>
            </a:solidFill>
            <a:prstDash val="solid"/>
          </a:ln>
        </p:spPr>
      </p:sp>
      <p:sp>
        <p:nvSpPr>
          <p:cNvPr id="24" name="Text 22"/>
          <p:cNvSpPr/>
          <p:nvPr/>
        </p:nvSpPr>
        <p:spPr>
          <a:xfrm>
            <a:off x="896112" y="4206240"/>
            <a:ext cx="548640" cy="338328"/>
          </a:xfrm>
          <a:prstGeom prst="rect">
            <a:avLst/>
          </a:prstGeom>
          <a:noFill/>
        </p:spPr>
        <p:txBody>
          <a:bodyPr wrap="square" lIns="0" tIns="0" rIns="0" bIns="0" rtlCol="0" anchor="ctr">
            <a:normAutofit/>
          </a:bodyPr>
          <a:lstStyle/>
          <a:p>
            <a:pPr marL="0" indent="0">
              <a:buNone/>
            </a:pPr>
            <a:r>
              <a:rPr lang="en-US" sz="1700" b="1" dirty="0">
                <a:solidFill>
                  <a:srgbClr val="21D6C4"/>
                </a:solidFill>
                <a:latin typeface="Aptos" pitchFamily="34" charset="0"/>
                <a:ea typeface="Aptos" pitchFamily="34" charset="-122"/>
                <a:cs typeface="Aptos" pitchFamily="34" charset="-120"/>
              </a:rPr>
              <a:t>04</a:t>
            </a:r>
            <a:endParaRPr lang="en-US" sz="1700" dirty="0"/>
          </a:p>
        </p:txBody>
      </p:sp>
      <p:sp>
        <p:nvSpPr>
          <p:cNvPr id="25" name="Text 23"/>
          <p:cNvSpPr/>
          <p:nvPr/>
        </p:nvSpPr>
        <p:spPr>
          <a:xfrm>
            <a:off x="1609344" y="4169664"/>
            <a:ext cx="1252728" cy="365760"/>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SOLVE</a:t>
            </a:r>
            <a:endParaRPr lang="en-US" sz="1500" dirty="0"/>
          </a:p>
        </p:txBody>
      </p:sp>
      <p:sp>
        <p:nvSpPr>
          <p:cNvPr id="26" name="Text 24"/>
          <p:cNvSpPr/>
          <p:nvPr/>
        </p:nvSpPr>
        <p:spPr>
          <a:xfrm>
            <a:off x="2807208" y="4178808"/>
            <a:ext cx="4206240" cy="347472"/>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GF(2) equations; recover k₁ &amp; k₂</a:t>
            </a:r>
            <a:endParaRPr lang="en-US" sz="1500" dirty="0"/>
          </a:p>
        </p:txBody>
      </p:sp>
      <p:sp>
        <p:nvSpPr>
          <p:cNvPr id="27" name="Shape 25"/>
          <p:cNvSpPr/>
          <p:nvPr/>
        </p:nvSpPr>
        <p:spPr>
          <a:xfrm>
            <a:off x="630936" y="4800600"/>
            <a:ext cx="6675120" cy="594360"/>
          </a:xfrm>
          <a:prstGeom prst="roundRect">
            <a:avLst>
              <a:gd name="adj" fmla="val 27692"/>
            </a:avLst>
          </a:prstGeom>
          <a:solidFill>
            <a:srgbClr val="123F36"/>
          </a:solidFill>
          <a:ln w="8890">
            <a:solidFill>
              <a:srgbClr val="243B56"/>
            </a:solidFill>
            <a:prstDash val="solid"/>
          </a:ln>
        </p:spPr>
      </p:sp>
      <p:sp>
        <p:nvSpPr>
          <p:cNvPr id="28" name="Text 26"/>
          <p:cNvSpPr/>
          <p:nvPr/>
        </p:nvSpPr>
        <p:spPr>
          <a:xfrm>
            <a:off x="896112" y="4910328"/>
            <a:ext cx="548640" cy="338328"/>
          </a:xfrm>
          <a:prstGeom prst="rect">
            <a:avLst/>
          </a:prstGeom>
          <a:noFill/>
        </p:spPr>
        <p:txBody>
          <a:bodyPr wrap="square" lIns="0" tIns="0" rIns="0" bIns="0" rtlCol="0" anchor="ctr">
            <a:normAutofit/>
          </a:bodyPr>
          <a:lstStyle/>
          <a:p>
            <a:pPr marL="0" indent="0">
              <a:buNone/>
            </a:pPr>
            <a:r>
              <a:rPr lang="en-US" sz="1700" b="1" dirty="0">
                <a:solidFill>
                  <a:srgbClr val="21D6C4"/>
                </a:solidFill>
                <a:latin typeface="Aptos" pitchFamily="34" charset="0"/>
                <a:ea typeface="Aptos" pitchFamily="34" charset="-122"/>
                <a:cs typeface="Aptos" pitchFamily="34" charset="-120"/>
              </a:rPr>
              <a:t>05</a:t>
            </a:r>
            <a:endParaRPr lang="en-US" sz="1700" dirty="0"/>
          </a:p>
        </p:txBody>
      </p:sp>
      <p:sp>
        <p:nvSpPr>
          <p:cNvPr id="29" name="Text 27"/>
          <p:cNvSpPr/>
          <p:nvPr/>
        </p:nvSpPr>
        <p:spPr>
          <a:xfrm>
            <a:off x="1609344" y="4873752"/>
            <a:ext cx="1252728" cy="365760"/>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VALIDATE</a:t>
            </a:r>
            <a:endParaRPr lang="en-US" sz="1500" dirty="0"/>
          </a:p>
        </p:txBody>
      </p:sp>
      <p:sp>
        <p:nvSpPr>
          <p:cNvPr id="30" name="Text 28"/>
          <p:cNvSpPr/>
          <p:nvPr/>
        </p:nvSpPr>
        <p:spPr>
          <a:xfrm>
            <a:off x="2807208" y="4882896"/>
            <a:ext cx="4206240" cy="347472"/>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Compare theory + all eight inputs</a:t>
            </a:r>
            <a:endParaRPr lang="en-US" sz="1500" dirty="0"/>
          </a:p>
        </p:txBody>
      </p:sp>
      <p:sp>
        <p:nvSpPr>
          <p:cNvPr id="31" name="Shape 29"/>
          <p:cNvSpPr/>
          <p:nvPr/>
        </p:nvSpPr>
        <p:spPr>
          <a:xfrm>
            <a:off x="7552944" y="1984248"/>
            <a:ext cx="4050792" cy="1828800"/>
          </a:xfrm>
          <a:prstGeom prst="roundRect">
            <a:avLst>
              <a:gd name="adj" fmla="val 9000"/>
            </a:avLst>
          </a:prstGeom>
          <a:solidFill>
            <a:srgbClr val="10233C"/>
          </a:solidFill>
          <a:ln w="8890">
            <a:solidFill>
              <a:srgbClr val="243B56"/>
            </a:solidFill>
            <a:prstDash val="solid"/>
          </a:ln>
        </p:spPr>
      </p:sp>
      <p:sp>
        <p:nvSpPr>
          <p:cNvPr id="32" name="Shape 30"/>
          <p:cNvSpPr/>
          <p:nvPr/>
        </p:nvSpPr>
        <p:spPr>
          <a:xfrm>
            <a:off x="7699248" y="2167128"/>
            <a:ext cx="36576" cy="1463040"/>
          </a:xfrm>
          <a:prstGeom prst="rect">
            <a:avLst/>
          </a:prstGeom>
          <a:solidFill>
            <a:srgbClr val="49BCFF"/>
          </a:solidFill>
          <a:ln w="12700">
            <a:solidFill>
              <a:srgbClr val="49BCFF"/>
            </a:solidFill>
            <a:prstDash val="solid"/>
          </a:ln>
        </p:spPr>
      </p:sp>
      <p:sp>
        <p:nvSpPr>
          <p:cNvPr id="33" name="Text 31"/>
          <p:cNvSpPr/>
          <p:nvPr/>
        </p:nvSpPr>
        <p:spPr>
          <a:xfrm>
            <a:off x="7882128" y="2185416"/>
            <a:ext cx="3538728"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LIVE SIMULATION</a:t>
            </a:r>
            <a:endParaRPr lang="en-US" sz="1700" dirty="0"/>
          </a:p>
        </p:txBody>
      </p:sp>
      <p:sp>
        <p:nvSpPr>
          <p:cNvPr id="34" name="Text 32"/>
          <p:cNvSpPr/>
          <p:nvPr/>
        </p:nvSpPr>
        <p:spPr>
          <a:xfrm>
            <a:off x="7882128" y="2578608"/>
            <a:ext cx="3511296" cy="1106424"/>
          </a:xfrm>
          <a:prstGeom prst="rect">
            <a:avLst/>
          </a:prstGeom>
          <a:noFill/>
        </p:spPr>
        <p:txBody>
          <a:bodyPr wrap="square" lIns="0" tIns="0" rIns="0" bIns="0" rtlCol="0" anchor="t">
            <a:normAutofit/>
          </a:bodyPr>
          <a:lstStyle/>
          <a:p>
            <a:pPr marL="0" indent="0">
              <a:buNone/>
            </a:pPr>
            <a:r>
              <a:rPr lang="en-US" sz="1600" dirty="0">
                <a:solidFill>
                  <a:srgbClr val="AAC1D7"/>
                </a:solidFill>
                <a:latin typeface="Aptos" pitchFamily="34" charset="0"/>
                <a:ea typeface="Aptos" pitchFamily="34" charset="-122"/>
                <a:cs typeface="Aptos" pitchFamily="34" charset="-120"/>
              </a:rPr>
              <a:t>Qiskit StatevectorSampler</a:t>
            </a: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6 qubits · 1,024 shots</a:t>
            </a: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Ideal noiseless simulator</a:t>
            </a:r>
            <a:endParaRPr lang="en-US" sz="1600" dirty="0"/>
          </a:p>
        </p:txBody>
      </p:sp>
      <p:sp>
        <p:nvSpPr>
          <p:cNvPr id="35" name="Shape 33"/>
          <p:cNvSpPr/>
          <p:nvPr/>
        </p:nvSpPr>
        <p:spPr>
          <a:xfrm>
            <a:off x="7552944" y="3986784"/>
            <a:ext cx="4050792" cy="1508760"/>
          </a:xfrm>
          <a:prstGeom prst="roundRect">
            <a:avLst>
              <a:gd name="adj" fmla="val 10909"/>
            </a:avLst>
          </a:prstGeom>
          <a:solidFill>
            <a:srgbClr val="10233C"/>
          </a:solidFill>
          <a:ln w="8890">
            <a:solidFill>
              <a:srgbClr val="243B56"/>
            </a:solidFill>
            <a:prstDash val="solid"/>
          </a:ln>
        </p:spPr>
      </p:sp>
      <p:sp>
        <p:nvSpPr>
          <p:cNvPr id="36" name="Shape 34"/>
          <p:cNvSpPr/>
          <p:nvPr/>
        </p:nvSpPr>
        <p:spPr>
          <a:xfrm>
            <a:off x="7699248" y="4169664"/>
            <a:ext cx="36576" cy="1143000"/>
          </a:xfrm>
          <a:prstGeom prst="rect">
            <a:avLst/>
          </a:prstGeom>
          <a:solidFill>
            <a:srgbClr val="B09BFF"/>
          </a:solidFill>
          <a:ln w="12700">
            <a:solidFill>
              <a:srgbClr val="B09BFF"/>
            </a:solidFill>
            <a:prstDash val="solid"/>
          </a:ln>
        </p:spPr>
      </p:sp>
      <p:sp>
        <p:nvSpPr>
          <p:cNvPr id="37" name="Text 35"/>
          <p:cNvSpPr/>
          <p:nvPr/>
        </p:nvSpPr>
        <p:spPr>
          <a:xfrm>
            <a:off x="7882128" y="4187952"/>
            <a:ext cx="3538728" cy="347472"/>
          </a:xfrm>
          <a:prstGeom prst="rect">
            <a:avLst/>
          </a:prstGeom>
          <a:noFill/>
        </p:spPr>
        <p:txBody>
          <a:bodyPr wrap="square" lIns="0" tIns="0" rIns="0" bIns="0" rtlCol="0" anchor="ctr">
            <a:normAutofit/>
          </a:bodyPr>
          <a:lstStyle/>
          <a:p>
            <a:pPr marL="0" indent="0">
              <a:buNone/>
            </a:pPr>
            <a:r>
              <a:rPr lang="en-US" sz="1600" b="1" dirty="0">
                <a:solidFill>
                  <a:srgbClr val="F4F9FF"/>
                </a:solidFill>
                <a:latin typeface="Aptos" pitchFamily="34" charset="0"/>
                <a:ea typeface="Aptos" pitchFamily="34" charset="-122"/>
                <a:cs typeface="Aptos" pitchFamily="34" charset="-120"/>
              </a:rPr>
              <a:t>VALIDATED BASELINE</a:t>
            </a:r>
            <a:endParaRPr lang="en-US" sz="1600" dirty="0"/>
          </a:p>
        </p:txBody>
      </p:sp>
      <p:sp>
        <p:nvSpPr>
          <p:cNvPr id="38" name="Text 36"/>
          <p:cNvSpPr/>
          <p:nvPr/>
        </p:nvSpPr>
        <p:spPr>
          <a:xfrm>
            <a:off x="7882128" y="4581144"/>
            <a:ext cx="3511296" cy="786384"/>
          </a:xfrm>
          <a:prstGeom prst="rect">
            <a:avLst/>
          </a:prstGeom>
          <a:noFill/>
        </p:spPr>
        <p:txBody>
          <a:bodyPr wrap="square" lIns="0" tIns="0" rIns="0" bIns="0" rtlCol="0" anchor="t">
            <a:normAutofit/>
          </a:bodyPr>
          <a:lstStyle/>
          <a:p>
            <a:pPr marL="0" indent="0">
              <a:buNone/>
            </a:pPr>
            <a:r>
              <a:rPr lang="en-US" sz="1400" dirty="0">
                <a:solidFill>
                  <a:srgbClr val="AAC1D7"/>
                </a:solidFill>
                <a:latin typeface="Aptos" pitchFamily="34" charset="0"/>
                <a:ea typeface="Aptos" pitchFamily="34" charset="-122"/>
                <a:cs typeface="Aptos" pitchFamily="34" charset="-120"/>
              </a:rPr>
              <a:t>Separate executed NumPy statevector experiment; measured counts used on next slide.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11</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THEORY VS SIMULATION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Do the observed measurements match the math?</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Executed NumPy statevector baseline: 1,024 shots.</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11</a:t>
            </a:r>
            <a:endParaRPr lang="en-US" sz="900" dirty="0"/>
          </a:p>
        </p:txBody>
      </p:sp>
      <p:sp>
        <p:nvSpPr>
          <p:cNvPr id="11" name="Shape 9"/>
          <p:cNvSpPr/>
          <p:nvPr/>
        </p:nvSpPr>
        <p:spPr>
          <a:xfrm>
            <a:off x="548640" y="2029968"/>
            <a:ext cx="8357616" cy="3456432"/>
          </a:xfrm>
          <a:prstGeom prst="roundRect">
            <a:avLst>
              <a:gd name="adj" fmla="val 4762"/>
            </a:avLst>
          </a:prstGeom>
          <a:solidFill>
            <a:srgbClr val="FFFFFF"/>
          </a:solidFill>
          <a:ln w="8890">
            <a:solidFill>
              <a:srgbClr val="FFFFFF"/>
            </a:solidFill>
            <a:prstDash val="solid"/>
          </a:ln>
        </p:spPr>
      </p:sp>
      <p:pic>
        <p:nvPicPr>
          <p:cNvPr id="12" name="Image 0" descr="/mnt/data/_quantum_build/histogram.png"/>
          <p:cNvPicPr>
            <a:picLocks noChangeAspect="1"/>
          </p:cNvPicPr>
          <p:nvPr/>
        </p:nvPicPr>
        <p:blipFill>
          <a:blip r:embed="rId1"/>
          <a:stretch>
            <a:fillRect/>
          </a:stretch>
        </p:blipFill>
        <p:spPr>
          <a:xfrm>
            <a:off x="640080" y="2203704"/>
            <a:ext cx="8193024" cy="3145536"/>
          </a:xfrm>
          <a:prstGeom prst="rect">
            <a:avLst/>
          </a:prstGeom>
        </p:spPr>
      </p:pic>
      <p:sp>
        <p:nvSpPr>
          <p:cNvPr id="13" name="Shape 10"/>
          <p:cNvSpPr/>
          <p:nvPr/>
        </p:nvSpPr>
        <p:spPr>
          <a:xfrm>
            <a:off x="9125712" y="2048256"/>
            <a:ext cx="2496312" cy="3447288"/>
          </a:xfrm>
          <a:prstGeom prst="roundRect">
            <a:avLst>
              <a:gd name="adj" fmla="val 6593"/>
            </a:avLst>
          </a:prstGeom>
          <a:solidFill>
            <a:srgbClr val="10233C"/>
          </a:solidFill>
          <a:ln w="8890">
            <a:solidFill>
              <a:srgbClr val="243B56"/>
            </a:solidFill>
            <a:prstDash val="solid"/>
          </a:ln>
        </p:spPr>
      </p:sp>
      <p:sp>
        <p:nvSpPr>
          <p:cNvPr id="14" name="Shape 11"/>
          <p:cNvSpPr/>
          <p:nvPr/>
        </p:nvSpPr>
        <p:spPr>
          <a:xfrm>
            <a:off x="9272016" y="2231136"/>
            <a:ext cx="36576" cy="3081528"/>
          </a:xfrm>
          <a:prstGeom prst="rect">
            <a:avLst/>
          </a:prstGeom>
          <a:solidFill>
            <a:srgbClr val="60E5A5"/>
          </a:solidFill>
          <a:ln w="12700">
            <a:solidFill>
              <a:srgbClr val="60E5A5"/>
            </a:solidFill>
            <a:prstDash val="solid"/>
          </a:ln>
        </p:spPr>
      </p:sp>
      <p:sp>
        <p:nvSpPr>
          <p:cNvPr id="15" name="Text 12"/>
          <p:cNvSpPr/>
          <p:nvPr/>
        </p:nvSpPr>
        <p:spPr>
          <a:xfrm>
            <a:off x="9454896" y="2249424"/>
            <a:ext cx="1984248" cy="347472"/>
          </a:xfrm>
          <a:prstGeom prst="rect">
            <a:avLst/>
          </a:prstGeom>
          <a:noFill/>
        </p:spPr>
        <p:txBody>
          <a:bodyPr wrap="square" lIns="0" tIns="0" rIns="0" bIns="0" rtlCol="0" anchor="ctr">
            <a:normAutofit/>
          </a:bodyPr>
          <a:lstStyle/>
          <a:p>
            <a:pPr marL="0" indent="0">
              <a:buNone/>
            </a:pPr>
            <a:r>
              <a:rPr lang="en-US" sz="1500" b="1" dirty="0">
                <a:solidFill>
                  <a:srgbClr val="F4F9FF"/>
                </a:solidFill>
                <a:latin typeface="Aptos" pitchFamily="34" charset="0"/>
                <a:ea typeface="Aptos" pitchFamily="34" charset="-122"/>
                <a:cs typeface="Aptos" pitchFamily="34" charset="-120"/>
              </a:rPr>
              <a:t>OBSERVED</a:t>
            </a:r>
            <a:endParaRPr lang="en-US" sz="1500" dirty="0"/>
          </a:p>
        </p:txBody>
      </p:sp>
      <p:sp>
        <p:nvSpPr>
          <p:cNvPr id="16" name="Text 13"/>
          <p:cNvSpPr/>
          <p:nvPr/>
        </p:nvSpPr>
        <p:spPr>
          <a:xfrm>
            <a:off x="9454896" y="2642616"/>
            <a:ext cx="1956816" cy="2724912"/>
          </a:xfrm>
          <a:prstGeom prst="rect">
            <a:avLst/>
          </a:prstGeom>
          <a:noFill/>
        </p:spPr>
        <p:txBody>
          <a:bodyPr wrap="square" lIns="0" tIns="0" rIns="0" bIns="0" rtlCol="0" anchor="t">
            <a:normAutofit/>
          </a:bodyPr>
          <a:lstStyle/>
          <a:p>
            <a:pPr marL="0" indent="0">
              <a:buNone/>
            </a:pPr>
            <a:r>
              <a:rPr lang="en-US" sz="1600" dirty="0">
                <a:solidFill>
                  <a:srgbClr val="AAC1D7"/>
                </a:solidFill>
                <a:latin typeface="Aptos" pitchFamily="34" charset="0"/>
                <a:ea typeface="Aptos" pitchFamily="34" charset="-122"/>
                <a:cs typeface="Aptos" pitchFamily="34" charset="-120"/>
              </a:rPr>
              <a:t>000 → 261</a:t>
            </a: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010 → 242</a:t>
            </a: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101 → 265</a:t>
            </a: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111 → 256</a:t>
            </a:r>
            <a:endParaRPr lang="en-US" sz="1600" dirty="0"/>
          </a:p>
          <a:p>
            <a:pPr marL="0" indent="0">
              <a:buNone/>
            </a:pPr>
            <a:endParaRPr lang="en-US" sz="1600" dirty="0"/>
          </a:p>
          <a:p>
            <a:pPr marL="0" indent="0">
              <a:buNone/>
            </a:pPr>
            <a:r>
              <a:rPr lang="en-US" sz="1600" dirty="0">
                <a:solidFill>
                  <a:srgbClr val="AAC1D7"/>
                </a:solidFill>
                <a:latin typeface="Aptos" pitchFamily="34" charset="0"/>
                <a:ea typeface="Aptos" pitchFamily="34" charset="-122"/>
                <a:cs typeface="Aptos" pitchFamily="34" charset="-120"/>
              </a:rPr>
              <a:t>All other counts = 0</a:t>
            </a:r>
            <a:endParaRPr lang="en-US" sz="1600" dirty="0"/>
          </a:p>
        </p:txBody>
      </p:sp>
      <p:sp>
        <p:nvSpPr>
          <p:cNvPr id="17" name="Shape 14"/>
          <p:cNvSpPr/>
          <p:nvPr/>
        </p:nvSpPr>
        <p:spPr>
          <a:xfrm>
            <a:off x="438912" y="5715000"/>
            <a:ext cx="11283696" cy="347472"/>
          </a:xfrm>
          <a:prstGeom prst="roundRect">
            <a:avLst>
              <a:gd name="adj" fmla="val 47368"/>
            </a:avLst>
          </a:prstGeom>
          <a:solidFill>
            <a:srgbClr val="152B47"/>
          </a:solidFill>
          <a:ln w="8890">
            <a:solidFill>
              <a:srgbClr val="152B47"/>
            </a:solidFill>
            <a:prstDash val="solid"/>
          </a:ln>
        </p:spPr>
      </p:sp>
      <p:sp>
        <p:nvSpPr>
          <p:cNvPr id="18" name="Text 15"/>
          <p:cNvSpPr/>
          <p:nvPr/>
        </p:nvSpPr>
        <p:spPr>
          <a:xfrm>
            <a:off x="640080" y="5747004"/>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60E5A5"/>
                </a:solidFill>
                <a:latin typeface="Aptos" pitchFamily="34" charset="0"/>
                <a:ea typeface="Aptos" pitchFamily="34" charset="-122"/>
                <a:cs typeface="Aptos" pitchFamily="34" charset="-120"/>
              </a:rPr>
              <a:t>THEORY: four outcomes × 25% each   |   SIMULATION: matching support, keys 101 and 011.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12</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SCIENTIFIC INTERPRETATION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What these results prove — and what they do not</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Strong mathematical demonstration, carefully limited claims.</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12</a:t>
            </a:r>
            <a:endParaRPr lang="en-US" sz="900" dirty="0"/>
          </a:p>
        </p:txBody>
      </p:sp>
      <p:sp>
        <p:nvSpPr>
          <p:cNvPr id="11" name="Shape 9"/>
          <p:cNvSpPr/>
          <p:nvPr/>
        </p:nvSpPr>
        <p:spPr>
          <a:xfrm>
            <a:off x="512064" y="2011680"/>
            <a:ext cx="5385816" cy="1600200"/>
          </a:xfrm>
          <a:prstGeom prst="roundRect">
            <a:avLst>
              <a:gd name="adj" fmla="val 10286"/>
            </a:avLst>
          </a:prstGeom>
          <a:solidFill>
            <a:srgbClr val="10233C"/>
          </a:solidFill>
          <a:ln w="8890">
            <a:solidFill>
              <a:srgbClr val="243B56"/>
            </a:solidFill>
            <a:prstDash val="solid"/>
          </a:ln>
        </p:spPr>
      </p:sp>
      <p:sp>
        <p:nvSpPr>
          <p:cNvPr id="12" name="Shape 10"/>
          <p:cNvSpPr/>
          <p:nvPr/>
        </p:nvSpPr>
        <p:spPr>
          <a:xfrm>
            <a:off x="658368" y="2194560"/>
            <a:ext cx="36576" cy="1234440"/>
          </a:xfrm>
          <a:prstGeom prst="rect">
            <a:avLst/>
          </a:prstGeom>
          <a:solidFill>
            <a:srgbClr val="60E5A5"/>
          </a:solidFill>
          <a:ln w="12700">
            <a:solidFill>
              <a:srgbClr val="60E5A5"/>
            </a:solidFill>
            <a:prstDash val="solid"/>
          </a:ln>
        </p:spPr>
      </p:sp>
      <p:sp>
        <p:nvSpPr>
          <p:cNvPr id="13" name="Text 11"/>
          <p:cNvSpPr/>
          <p:nvPr/>
        </p:nvSpPr>
        <p:spPr>
          <a:xfrm>
            <a:off x="841248" y="2212848"/>
            <a:ext cx="487375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WHAT WE VERIFIED</a:t>
            </a:r>
            <a:endParaRPr lang="en-US" sz="1700" dirty="0"/>
          </a:p>
        </p:txBody>
      </p:sp>
      <p:sp>
        <p:nvSpPr>
          <p:cNvPr id="14" name="Text 12"/>
          <p:cNvSpPr/>
          <p:nvPr/>
        </p:nvSpPr>
        <p:spPr>
          <a:xfrm>
            <a:off x="841248" y="2606040"/>
            <a:ext cx="4846320" cy="877824"/>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The exact 3-bit oracle has the promised period; measurements give valid equations; both keys are recovered and checked.</a:t>
            </a:r>
            <a:endParaRPr lang="en-US" sz="1500" dirty="0"/>
          </a:p>
        </p:txBody>
      </p:sp>
      <p:sp>
        <p:nvSpPr>
          <p:cNvPr id="15" name="Shape 13"/>
          <p:cNvSpPr/>
          <p:nvPr/>
        </p:nvSpPr>
        <p:spPr>
          <a:xfrm>
            <a:off x="6126480" y="2011680"/>
            <a:ext cx="5477256" cy="1600200"/>
          </a:xfrm>
          <a:prstGeom prst="roundRect">
            <a:avLst>
              <a:gd name="adj" fmla="val 10286"/>
            </a:avLst>
          </a:prstGeom>
          <a:solidFill>
            <a:srgbClr val="10233C"/>
          </a:solidFill>
          <a:ln w="8890">
            <a:solidFill>
              <a:srgbClr val="243B56"/>
            </a:solidFill>
            <a:prstDash val="solid"/>
          </a:ln>
        </p:spPr>
      </p:sp>
      <p:sp>
        <p:nvSpPr>
          <p:cNvPr id="16" name="Shape 14"/>
          <p:cNvSpPr/>
          <p:nvPr/>
        </p:nvSpPr>
        <p:spPr>
          <a:xfrm>
            <a:off x="6272784" y="2194560"/>
            <a:ext cx="36576" cy="1234440"/>
          </a:xfrm>
          <a:prstGeom prst="rect">
            <a:avLst/>
          </a:prstGeom>
          <a:solidFill>
            <a:srgbClr val="FFC76B"/>
          </a:solidFill>
          <a:ln w="12700">
            <a:solidFill>
              <a:srgbClr val="FFC76B"/>
            </a:solidFill>
            <a:prstDash val="solid"/>
          </a:ln>
        </p:spPr>
      </p:sp>
      <p:sp>
        <p:nvSpPr>
          <p:cNvPr id="17" name="Text 15"/>
          <p:cNvSpPr/>
          <p:nvPr/>
        </p:nvSpPr>
        <p:spPr>
          <a:xfrm>
            <a:off x="6455664" y="2212848"/>
            <a:ext cx="496519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WHAT WE DID NOT CLAIM</a:t>
            </a:r>
            <a:endParaRPr lang="en-US" sz="1700" dirty="0"/>
          </a:p>
        </p:txBody>
      </p:sp>
      <p:sp>
        <p:nvSpPr>
          <p:cNvPr id="18" name="Text 16"/>
          <p:cNvSpPr/>
          <p:nvPr/>
        </p:nvSpPr>
        <p:spPr>
          <a:xfrm>
            <a:off x="6455664" y="2606040"/>
            <a:ext cx="4937760" cy="877824"/>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A practical 3-bit runtime speedup, real hardware execution, or that every Even–Mansour permutation satisfies Simon’s exact promise.</a:t>
            </a:r>
            <a:endParaRPr lang="en-US" sz="1500" dirty="0"/>
          </a:p>
        </p:txBody>
      </p:sp>
      <p:sp>
        <p:nvSpPr>
          <p:cNvPr id="19" name="Shape 17"/>
          <p:cNvSpPr/>
          <p:nvPr/>
        </p:nvSpPr>
        <p:spPr>
          <a:xfrm>
            <a:off x="512064" y="3803904"/>
            <a:ext cx="5385816" cy="1600200"/>
          </a:xfrm>
          <a:prstGeom prst="roundRect">
            <a:avLst>
              <a:gd name="adj" fmla="val 10286"/>
            </a:avLst>
          </a:prstGeom>
          <a:solidFill>
            <a:srgbClr val="10233C"/>
          </a:solidFill>
          <a:ln w="8890">
            <a:solidFill>
              <a:srgbClr val="243B56"/>
            </a:solidFill>
            <a:prstDash val="solid"/>
          </a:ln>
        </p:spPr>
      </p:sp>
      <p:sp>
        <p:nvSpPr>
          <p:cNvPr id="20" name="Shape 18"/>
          <p:cNvSpPr/>
          <p:nvPr/>
        </p:nvSpPr>
        <p:spPr>
          <a:xfrm>
            <a:off x="658368" y="3986784"/>
            <a:ext cx="36576" cy="1234440"/>
          </a:xfrm>
          <a:prstGeom prst="rect">
            <a:avLst/>
          </a:prstGeom>
          <a:solidFill>
            <a:srgbClr val="B09BFF"/>
          </a:solidFill>
          <a:ln w="12700">
            <a:solidFill>
              <a:srgbClr val="B09BFF"/>
            </a:solidFill>
            <a:prstDash val="solid"/>
          </a:ln>
        </p:spPr>
      </p:sp>
      <p:sp>
        <p:nvSpPr>
          <p:cNvPr id="21" name="Text 19"/>
          <p:cNvSpPr/>
          <p:nvPr/>
        </p:nvSpPr>
        <p:spPr>
          <a:xfrm>
            <a:off x="841248" y="4005072"/>
            <a:ext cx="487375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TECHNICAL CONSTRAINTS</a:t>
            </a:r>
            <a:endParaRPr lang="en-US" sz="1700" dirty="0"/>
          </a:p>
        </p:txBody>
      </p:sp>
      <p:sp>
        <p:nvSpPr>
          <p:cNvPr id="22" name="Text 20"/>
          <p:cNvSpPr/>
          <p:nvPr/>
        </p:nvSpPr>
        <p:spPr>
          <a:xfrm>
            <a:off x="841248" y="4398264"/>
            <a:ext cx="4846320" cy="877824"/>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Real devices have noise, limited connectivity, gate depth constraints, and costly coherent oracle construction.</a:t>
            </a:r>
            <a:endParaRPr lang="en-US" sz="1500" dirty="0"/>
          </a:p>
        </p:txBody>
      </p:sp>
      <p:sp>
        <p:nvSpPr>
          <p:cNvPr id="23" name="Shape 21"/>
          <p:cNvSpPr/>
          <p:nvPr/>
        </p:nvSpPr>
        <p:spPr>
          <a:xfrm>
            <a:off x="6126480" y="3803904"/>
            <a:ext cx="5477256" cy="1600200"/>
          </a:xfrm>
          <a:prstGeom prst="roundRect">
            <a:avLst>
              <a:gd name="adj" fmla="val 10286"/>
            </a:avLst>
          </a:prstGeom>
          <a:solidFill>
            <a:srgbClr val="10233C"/>
          </a:solidFill>
          <a:ln w="8890">
            <a:solidFill>
              <a:srgbClr val="243B56"/>
            </a:solidFill>
            <a:prstDash val="solid"/>
          </a:ln>
        </p:spPr>
      </p:sp>
      <p:sp>
        <p:nvSpPr>
          <p:cNvPr id="24" name="Shape 22"/>
          <p:cNvSpPr/>
          <p:nvPr/>
        </p:nvSpPr>
        <p:spPr>
          <a:xfrm>
            <a:off x="6272784" y="3986784"/>
            <a:ext cx="36576" cy="1234440"/>
          </a:xfrm>
          <a:prstGeom prst="rect">
            <a:avLst/>
          </a:prstGeom>
          <a:solidFill>
            <a:srgbClr val="49BCFF"/>
          </a:solidFill>
          <a:ln w="12700">
            <a:solidFill>
              <a:srgbClr val="49BCFF"/>
            </a:solidFill>
            <a:prstDash val="solid"/>
          </a:ln>
        </p:spPr>
      </p:sp>
      <p:sp>
        <p:nvSpPr>
          <p:cNvPr id="25" name="Text 23"/>
          <p:cNvSpPr/>
          <p:nvPr/>
        </p:nvSpPr>
        <p:spPr>
          <a:xfrm>
            <a:off x="6455664" y="4005072"/>
            <a:ext cx="496519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REAL-WORLD LESSON</a:t>
            </a:r>
            <a:endParaRPr lang="en-US" sz="1700" dirty="0"/>
          </a:p>
        </p:txBody>
      </p:sp>
      <p:sp>
        <p:nvSpPr>
          <p:cNvPr id="26" name="Text 24"/>
          <p:cNvSpPr/>
          <p:nvPr/>
        </p:nvSpPr>
        <p:spPr>
          <a:xfrm>
            <a:off x="6455664" y="4398264"/>
            <a:ext cx="4937760" cy="877824"/>
          </a:xfrm>
          <a:prstGeom prst="rect">
            <a:avLst/>
          </a:prstGeom>
          <a:noFill/>
        </p:spPr>
        <p:txBody>
          <a:bodyPr wrap="square" lIns="0" tIns="0" rIns="0" bIns="0" rtlCol="0" anchor="t">
            <a:normAutofit/>
          </a:bodyPr>
          <a:lstStyle/>
          <a:p>
            <a:pPr marL="0" indent="0">
              <a:buNone/>
            </a:pPr>
            <a:r>
              <a:rPr lang="en-US" sz="1500" dirty="0">
                <a:solidFill>
                  <a:srgbClr val="AAC1D7"/>
                </a:solidFill>
                <a:latin typeface="Aptos" pitchFamily="34" charset="0"/>
                <a:ea typeface="Aptos" pitchFamily="34" charset="-122"/>
                <a:cs typeface="Aptos" pitchFamily="34" charset="-120"/>
              </a:rPr>
              <a:t>Quantum cryptanalysis motivates stronger security assumptions and responsible adoption of quantum-resistant cryptography.</a:t>
            </a:r>
            <a:endParaRPr lang="en-US" sz="1500" dirty="0"/>
          </a:p>
        </p:txBody>
      </p:sp>
      <p:sp>
        <p:nvSpPr>
          <p:cNvPr id="27" name="Shape 25"/>
          <p:cNvSpPr/>
          <p:nvPr/>
        </p:nvSpPr>
        <p:spPr>
          <a:xfrm>
            <a:off x="438912" y="5870448"/>
            <a:ext cx="11283696" cy="347472"/>
          </a:xfrm>
          <a:prstGeom prst="roundRect">
            <a:avLst>
              <a:gd name="adj" fmla="val 47368"/>
            </a:avLst>
          </a:prstGeom>
          <a:solidFill>
            <a:srgbClr val="152B47"/>
          </a:solidFill>
          <a:ln w="8890">
            <a:solidFill>
              <a:srgbClr val="152B47"/>
            </a:solidFill>
            <a:prstDash val="solid"/>
          </a:ln>
        </p:spPr>
      </p:sp>
      <p:sp>
        <p:nvSpPr>
          <p:cNvPr id="28" name="Text 26"/>
          <p:cNvSpPr/>
          <p:nvPr/>
        </p:nvSpPr>
        <p:spPr>
          <a:xfrm>
            <a:off x="640080" y="5902452"/>
            <a:ext cx="10835640" cy="246888"/>
          </a:xfrm>
          <a:prstGeom prst="rect">
            <a:avLst/>
          </a:prstGeom>
          <a:noFill/>
        </p:spPr>
        <p:txBody>
          <a:bodyPr wrap="square" lIns="0" tIns="0" rIns="0" bIns="0" rtlCol="0" anchor="ctr">
            <a:normAutofit/>
          </a:bodyPr>
          <a:lstStyle/>
          <a:p>
            <a:pPr marL="0" indent="0" algn="ctr">
              <a:buNone/>
            </a:pPr>
            <a:r>
              <a:rPr lang="en-US" sz="1300" b="1" dirty="0">
                <a:solidFill>
                  <a:srgbClr val="FFC76B"/>
                </a:solidFill>
                <a:latin typeface="Aptos" pitchFamily="34" charset="0"/>
                <a:ea typeface="Aptos" pitchFamily="34" charset="-122"/>
                <a:cs typeface="Aptos" pitchFamily="34" charset="-120"/>
              </a:rPr>
              <a:t>Educational result: exact simulated recovery, not a break of deployed cryptography.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53035"/>
          </a:xfrm>
          <a:prstGeom prst="rect">
            <a:avLst/>
          </a:prstGeom>
          <a:solidFill>
            <a:srgbClr val="21D6C4"/>
          </a:solidFill>
          <a:ln w="12700">
            <a:solidFill>
              <a:srgbClr val="21D6C4"/>
            </a:solidFill>
            <a:prstDash val="solid"/>
          </a:ln>
        </p:spPr>
      </p:sp>
      <p:sp>
        <p:nvSpPr>
          <p:cNvPr id="3" name="Text 1"/>
          <p:cNvSpPr/>
          <p:nvPr/>
        </p:nvSpPr>
        <p:spPr>
          <a:xfrm>
            <a:off x="384048" y="201168"/>
            <a:ext cx="8229600" cy="228600"/>
          </a:xfrm>
          <a:prstGeom prst="rect">
            <a:avLst/>
          </a:prstGeom>
          <a:noFill/>
        </p:spPr>
        <p:txBody>
          <a:bodyPr wrap="square" lIns="0" tIns="0" rIns="0" bIns="0" rtlCol="0" anchor="ctr">
            <a:normAutofit/>
          </a:bodyPr>
          <a:lstStyle/>
          <a:p>
            <a:pPr marL="0" indent="0">
              <a:buNone/>
            </a:pPr>
            <a:r>
              <a:rPr lang="en-US" sz="1000" b="1" kern="0" spc="140" dirty="0">
                <a:solidFill>
                  <a:srgbClr val="21D6C4"/>
                </a:solidFill>
                <a:latin typeface="Aptos" pitchFamily="34" charset="0"/>
                <a:ea typeface="Aptos" pitchFamily="34" charset="-122"/>
                <a:cs typeface="Aptos" pitchFamily="34" charset="-120"/>
              </a:rPr>
              <a:t>QUANTUM COMPUTING  /  EVEN–MANSOUR × SIMON</a:t>
            </a:r>
            <a:endParaRPr lang="en-US" sz="1000" dirty="0"/>
          </a:p>
        </p:txBody>
      </p:sp>
      <p:sp>
        <p:nvSpPr>
          <p:cNvPr id="4" name="Text 2"/>
          <p:cNvSpPr/>
          <p:nvPr/>
        </p:nvSpPr>
        <p:spPr>
          <a:xfrm>
            <a:off x="11338560" y="182880"/>
            <a:ext cx="411480" cy="274320"/>
          </a:xfrm>
          <a:prstGeom prst="rect">
            <a:avLst/>
          </a:prstGeom>
          <a:noFill/>
        </p:spPr>
        <p:txBody>
          <a:bodyPr wrap="square" lIns="0" tIns="0" rIns="0" bIns="0" rtlCol="0" anchor="ctr">
            <a:normAutofit/>
          </a:bodyPr>
          <a:lstStyle/>
          <a:p>
            <a:pPr marL="0" indent="0" algn="r">
              <a:buNone/>
            </a:pPr>
            <a:r>
              <a:rPr lang="en-US" sz="1000" b="1" dirty="0">
                <a:solidFill>
                  <a:srgbClr val="819BB3"/>
                </a:solidFill>
                <a:latin typeface="Aptos" pitchFamily="34" charset="0"/>
                <a:ea typeface="Aptos" pitchFamily="34" charset="-122"/>
                <a:cs typeface="Aptos" pitchFamily="34" charset="-120"/>
              </a:rPr>
              <a:t>15</a:t>
            </a:r>
            <a:endParaRPr lang="en-US" sz="1000" dirty="0"/>
          </a:p>
        </p:txBody>
      </p:sp>
      <p:sp>
        <p:nvSpPr>
          <p:cNvPr id="5" name="Text 3"/>
          <p:cNvSpPr/>
          <p:nvPr/>
        </p:nvSpPr>
        <p:spPr>
          <a:xfrm>
            <a:off x="420624" y="649224"/>
            <a:ext cx="10972800" cy="210312"/>
          </a:xfrm>
          <a:prstGeom prst="rect">
            <a:avLst/>
          </a:prstGeom>
          <a:noFill/>
        </p:spPr>
        <p:txBody>
          <a:bodyPr wrap="square" lIns="0" tIns="0" rIns="0" bIns="0" rtlCol="0" anchor="ctr">
            <a:normAutofit/>
          </a:bodyPr>
          <a:lstStyle/>
          <a:p>
            <a:pPr marL="0" indent="0">
              <a:buNone/>
            </a:pPr>
            <a:r>
              <a:rPr lang="en-US" sz="1000" b="1" kern="0" spc="130" dirty="0">
                <a:solidFill>
                  <a:srgbClr val="49BCFF"/>
                </a:solidFill>
                <a:latin typeface="Aptos" pitchFamily="34" charset="0"/>
                <a:ea typeface="Aptos" pitchFamily="34" charset="-122"/>
                <a:cs typeface="Aptos" pitchFamily="34" charset="-120"/>
              </a:rPr>
              <a:t>CONCLUSION</a:t>
            </a:r>
            <a:endParaRPr lang="en-US" sz="1000" dirty="0"/>
          </a:p>
        </p:txBody>
      </p:sp>
      <p:sp>
        <p:nvSpPr>
          <p:cNvPr id="6" name="Text 4"/>
          <p:cNvSpPr/>
          <p:nvPr/>
        </p:nvSpPr>
        <p:spPr>
          <a:xfrm>
            <a:off x="420624" y="941832"/>
            <a:ext cx="11384280" cy="493776"/>
          </a:xfrm>
          <a:prstGeom prst="rect">
            <a:avLst/>
          </a:prstGeom>
          <a:noFill/>
        </p:spPr>
        <p:txBody>
          <a:bodyPr wrap="square" lIns="0" tIns="0" rIns="0" bIns="0" rtlCol="0" anchor="ctr">
            <a:normAutofit/>
          </a:bodyPr>
          <a:lstStyle/>
          <a:p>
            <a:pPr marL="0" indent="0">
              <a:buNone/>
            </a:pPr>
            <a:r>
              <a:rPr lang="en-US" sz="2900" b="1" dirty="0">
                <a:solidFill>
                  <a:srgbClr val="F4F9FF"/>
                </a:solidFill>
                <a:latin typeface="Aptos" pitchFamily="34" charset="0"/>
                <a:ea typeface="Aptos" pitchFamily="34" charset="-122"/>
                <a:cs typeface="Aptos" pitchFamily="34" charset="-120"/>
              </a:rPr>
              <a:t>We solved the question — and checked it experimentally</a:t>
            </a:r>
            <a:endParaRPr lang="en-US" sz="2900" dirty="0"/>
          </a:p>
        </p:txBody>
      </p:sp>
      <p:sp>
        <p:nvSpPr>
          <p:cNvPr id="7" name="Text 5"/>
          <p:cNvSpPr/>
          <p:nvPr/>
        </p:nvSpPr>
        <p:spPr>
          <a:xfrm>
            <a:off x="438912" y="1517904"/>
            <a:ext cx="11109960" cy="384048"/>
          </a:xfrm>
          <a:prstGeom prst="rect">
            <a:avLst/>
          </a:prstGeom>
          <a:noFill/>
        </p:spPr>
        <p:txBody>
          <a:bodyPr wrap="square" lIns="0" tIns="0" rIns="0" bIns="0" rtlCol="0" anchor="ctr">
            <a:normAutofit/>
          </a:bodyPr>
          <a:lstStyle/>
          <a:p>
            <a:pPr marL="0" indent="0">
              <a:buNone/>
            </a:pPr>
            <a:r>
              <a:rPr lang="en-US" sz="1500" dirty="0">
                <a:solidFill>
                  <a:srgbClr val="AAC1D7"/>
                </a:solidFill>
                <a:latin typeface="Aptos" pitchFamily="34" charset="0"/>
                <a:ea typeface="Aptos" pitchFamily="34" charset="-122"/>
                <a:cs typeface="Aptos" pitchFamily="34" charset="-120"/>
              </a:rPr>
              <a:t>The result is a reproducible demonstration of quantum period finding.</a:t>
            </a:r>
            <a:endParaRPr lang="en-US" sz="1500" dirty="0"/>
          </a:p>
        </p:txBody>
      </p:sp>
      <p:sp>
        <p:nvSpPr>
          <p:cNvPr id="8" name="Shape 6"/>
          <p:cNvSpPr/>
          <p:nvPr/>
        </p:nvSpPr>
        <p:spPr>
          <a:xfrm>
            <a:off x="420624" y="6592824"/>
            <a:ext cx="11338560" cy="0"/>
          </a:xfrm>
          <a:prstGeom prst="line">
            <a:avLst/>
          </a:prstGeom>
          <a:noFill/>
          <a:ln w="8890">
            <a:solidFill>
              <a:srgbClr val="243B56"/>
            </a:solidFill>
            <a:prstDash val="solid"/>
          </a:ln>
        </p:spPr>
      </p:sp>
      <p:sp>
        <p:nvSpPr>
          <p:cNvPr id="9" name="Text 7"/>
          <p:cNvSpPr/>
          <p:nvPr/>
        </p:nvSpPr>
        <p:spPr>
          <a:xfrm>
            <a:off x="429768" y="6629400"/>
            <a:ext cx="10058400" cy="109728"/>
          </a:xfrm>
          <a:prstGeom prst="rect">
            <a:avLst/>
          </a:prstGeom>
          <a:noFill/>
        </p:spPr>
        <p:txBody>
          <a:bodyPr wrap="square" lIns="0" tIns="0" rIns="0" bIns="0" rtlCol="0" anchor="ctr">
            <a:normAutofit/>
          </a:bodyPr>
          <a:lstStyle/>
          <a:p>
            <a:pPr marL="0" indent="0">
              <a:buNone/>
            </a:pPr>
            <a:r>
              <a:rPr lang="en-US" sz="800" dirty="0">
                <a:solidFill>
                  <a:srgbClr val="819BB3"/>
                </a:solidFill>
                <a:latin typeface="Aptos" pitchFamily="34" charset="0"/>
                <a:ea typeface="Aptos" pitchFamily="34" charset="-122"/>
                <a:cs typeface="Aptos" pitchFamily="34" charset="-120"/>
              </a:rPr>
              <a:t>IA III  ·  QUANTUM COMPUTING  ·  THEORY → SIMULATOR → KEY RECOVERY</a:t>
            </a:r>
            <a:endParaRPr lang="en-US" sz="800" dirty="0"/>
          </a:p>
        </p:txBody>
      </p:sp>
      <p:sp>
        <p:nvSpPr>
          <p:cNvPr id="10" name="Text 8"/>
          <p:cNvSpPr/>
          <p:nvPr/>
        </p:nvSpPr>
        <p:spPr>
          <a:xfrm>
            <a:off x="11228832" y="6620256"/>
            <a:ext cx="457200" cy="118872"/>
          </a:xfrm>
          <a:prstGeom prst="rect">
            <a:avLst/>
          </a:prstGeom>
          <a:noFill/>
        </p:spPr>
        <p:txBody>
          <a:bodyPr wrap="square" lIns="0" tIns="0" rIns="0" bIns="0" rtlCol="0" anchor="ctr">
            <a:normAutofit/>
          </a:bodyPr>
          <a:lstStyle/>
          <a:p>
            <a:pPr marL="0" indent="0" algn="r">
              <a:buNone/>
            </a:pPr>
            <a:r>
              <a:rPr lang="en-US" sz="900" b="1" dirty="0">
                <a:solidFill>
                  <a:srgbClr val="21D6C4"/>
                </a:solidFill>
                <a:latin typeface="Aptos" pitchFamily="34" charset="0"/>
                <a:ea typeface="Aptos" pitchFamily="34" charset="-122"/>
                <a:cs typeface="Aptos" pitchFamily="34" charset="-120"/>
              </a:rPr>
              <a:t>15</a:t>
            </a:r>
            <a:endParaRPr lang="en-US" sz="900" dirty="0"/>
          </a:p>
        </p:txBody>
      </p:sp>
      <p:sp>
        <p:nvSpPr>
          <p:cNvPr id="11" name="Shape 9"/>
          <p:cNvSpPr/>
          <p:nvPr/>
        </p:nvSpPr>
        <p:spPr>
          <a:xfrm>
            <a:off x="530352" y="2084832"/>
            <a:ext cx="3511296" cy="1600200"/>
          </a:xfrm>
          <a:prstGeom prst="roundRect">
            <a:avLst>
              <a:gd name="adj" fmla="val 10286"/>
            </a:avLst>
          </a:prstGeom>
          <a:solidFill>
            <a:srgbClr val="10233C"/>
          </a:solidFill>
          <a:ln w="8890">
            <a:solidFill>
              <a:srgbClr val="243B56"/>
            </a:solidFill>
            <a:prstDash val="solid"/>
          </a:ln>
        </p:spPr>
      </p:sp>
      <p:sp>
        <p:nvSpPr>
          <p:cNvPr id="12" name="Shape 10"/>
          <p:cNvSpPr/>
          <p:nvPr/>
        </p:nvSpPr>
        <p:spPr>
          <a:xfrm>
            <a:off x="676656" y="2267712"/>
            <a:ext cx="36576" cy="1234440"/>
          </a:xfrm>
          <a:prstGeom prst="rect">
            <a:avLst/>
          </a:prstGeom>
          <a:solidFill>
            <a:srgbClr val="49BCFF"/>
          </a:solidFill>
          <a:ln w="12700">
            <a:solidFill>
              <a:srgbClr val="49BCFF"/>
            </a:solidFill>
            <a:prstDash val="solid"/>
          </a:ln>
        </p:spPr>
      </p:sp>
      <p:sp>
        <p:nvSpPr>
          <p:cNvPr id="13" name="Text 11"/>
          <p:cNvSpPr/>
          <p:nvPr/>
        </p:nvSpPr>
        <p:spPr>
          <a:xfrm>
            <a:off x="859536" y="2286000"/>
            <a:ext cx="299923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PROOF</a:t>
            </a:r>
            <a:endParaRPr lang="en-US" sz="1700" dirty="0"/>
          </a:p>
        </p:txBody>
      </p:sp>
      <p:sp>
        <p:nvSpPr>
          <p:cNvPr id="14" name="Text 12"/>
          <p:cNvSpPr/>
          <p:nvPr/>
        </p:nvSpPr>
        <p:spPr>
          <a:xfrm>
            <a:off x="859536" y="2679192"/>
            <a:ext cx="2971800" cy="877824"/>
          </a:xfrm>
          <a:prstGeom prst="rect">
            <a:avLst/>
          </a:prstGeom>
          <a:noFill/>
        </p:spPr>
        <p:txBody>
          <a:bodyPr wrap="square" lIns="0" tIns="0" rIns="0" bIns="0" rtlCol="0" anchor="t">
            <a:normAutofit/>
          </a:bodyPr>
          <a:lstStyle/>
          <a:p>
            <a:pPr marL="0" indent="0">
              <a:buNone/>
            </a:pPr>
            <a:r>
              <a:rPr lang="en-US" sz="1700" dirty="0">
                <a:solidFill>
                  <a:srgbClr val="AAC1D7"/>
                </a:solidFill>
                <a:latin typeface="Aptos" pitchFamily="34" charset="0"/>
                <a:ea typeface="Aptos" pitchFamily="34" charset="-122"/>
                <a:cs typeface="Aptos" pitchFamily="34" charset="-120"/>
              </a:rPr>
              <a:t>f(x ⊕ k₁) = f(x)</a:t>
            </a:r>
            <a:endParaRPr lang="en-US" sz="1700" dirty="0"/>
          </a:p>
        </p:txBody>
      </p:sp>
      <p:sp>
        <p:nvSpPr>
          <p:cNvPr id="15" name="Shape 13"/>
          <p:cNvSpPr/>
          <p:nvPr/>
        </p:nvSpPr>
        <p:spPr>
          <a:xfrm>
            <a:off x="4270248" y="2084832"/>
            <a:ext cx="3511296" cy="1600200"/>
          </a:xfrm>
          <a:prstGeom prst="roundRect">
            <a:avLst>
              <a:gd name="adj" fmla="val 10286"/>
            </a:avLst>
          </a:prstGeom>
          <a:solidFill>
            <a:srgbClr val="10233C"/>
          </a:solidFill>
          <a:ln w="8890">
            <a:solidFill>
              <a:srgbClr val="243B56"/>
            </a:solidFill>
            <a:prstDash val="solid"/>
          </a:ln>
        </p:spPr>
      </p:sp>
      <p:sp>
        <p:nvSpPr>
          <p:cNvPr id="16" name="Shape 14"/>
          <p:cNvSpPr/>
          <p:nvPr/>
        </p:nvSpPr>
        <p:spPr>
          <a:xfrm>
            <a:off x="4416552" y="2267712"/>
            <a:ext cx="36576" cy="1234440"/>
          </a:xfrm>
          <a:prstGeom prst="rect">
            <a:avLst/>
          </a:prstGeom>
          <a:solidFill>
            <a:srgbClr val="49BCFF"/>
          </a:solidFill>
          <a:ln w="12700">
            <a:solidFill>
              <a:srgbClr val="49BCFF"/>
            </a:solidFill>
            <a:prstDash val="solid"/>
          </a:ln>
        </p:spPr>
      </p:sp>
      <p:sp>
        <p:nvSpPr>
          <p:cNvPr id="17" name="Text 15"/>
          <p:cNvSpPr/>
          <p:nvPr/>
        </p:nvSpPr>
        <p:spPr>
          <a:xfrm>
            <a:off x="4599432" y="2286000"/>
            <a:ext cx="299923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QUANTUM CIRCUIT</a:t>
            </a:r>
            <a:endParaRPr lang="en-US" sz="1700" dirty="0"/>
          </a:p>
        </p:txBody>
      </p:sp>
      <p:sp>
        <p:nvSpPr>
          <p:cNvPr id="18" name="Text 16"/>
          <p:cNvSpPr/>
          <p:nvPr/>
        </p:nvSpPr>
        <p:spPr>
          <a:xfrm>
            <a:off x="4599432" y="2679192"/>
            <a:ext cx="2971800" cy="877824"/>
          </a:xfrm>
          <a:prstGeom prst="rect">
            <a:avLst/>
          </a:prstGeom>
          <a:noFill/>
        </p:spPr>
        <p:txBody>
          <a:bodyPr wrap="square" lIns="0" tIns="0" rIns="0" bIns="0" rtlCol="0" anchor="t">
            <a:normAutofit/>
          </a:bodyPr>
          <a:lstStyle/>
          <a:p>
            <a:pPr marL="0" indent="0">
              <a:buNone/>
            </a:pPr>
            <a:r>
              <a:rPr lang="en-US" sz="1700" dirty="0">
                <a:solidFill>
                  <a:srgbClr val="AAC1D7"/>
                </a:solidFill>
                <a:latin typeface="Aptos" pitchFamily="34" charset="0"/>
                <a:ea typeface="Aptos" pitchFamily="34" charset="-122"/>
                <a:cs typeface="Aptos" pitchFamily="34" charset="-120"/>
              </a:rPr>
              <a:t>Six qubits; Simon’s measurements</a:t>
            </a:r>
            <a:endParaRPr lang="en-US" sz="1700" dirty="0"/>
          </a:p>
        </p:txBody>
      </p:sp>
      <p:sp>
        <p:nvSpPr>
          <p:cNvPr id="19" name="Shape 17"/>
          <p:cNvSpPr/>
          <p:nvPr/>
        </p:nvSpPr>
        <p:spPr>
          <a:xfrm>
            <a:off x="8010144" y="2084832"/>
            <a:ext cx="3511296" cy="1600200"/>
          </a:xfrm>
          <a:prstGeom prst="roundRect">
            <a:avLst>
              <a:gd name="adj" fmla="val 10286"/>
            </a:avLst>
          </a:prstGeom>
          <a:solidFill>
            <a:srgbClr val="10233C"/>
          </a:solidFill>
          <a:ln w="8890">
            <a:solidFill>
              <a:srgbClr val="243B56"/>
            </a:solidFill>
            <a:prstDash val="solid"/>
          </a:ln>
        </p:spPr>
      </p:sp>
      <p:sp>
        <p:nvSpPr>
          <p:cNvPr id="20" name="Shape 18"/>
          <p:cNvSpPr/>
          <p:nvPr/>
        </p:nvSpPr>
        <p:spPr>
          <a:xfrm>
            <a:off x="8156448" y="2267712"/>
            <a:ext cx="36576" cy="1234440"/>
          </a:xfrm>
          <a:prstGeom prst="rect">
            <a:avLst/>
          </a:prstGeom>
          <a:solidFill>
            <a:srgbClr val="60E5A5"/>
          </a:solidFill>
          <a:ln w="12700">
            <a:solidFill>
              <a:srgbClr val="60E5A5"/>
            </a:solidFill>
            <a:prstDash val="solid"/>
          </a:ln>
        </p:spPr>
      </p:sp>
      <p:sp>
        <p:nvSpPr>
          <p:cNvPr id="21" name="Text 19"/>
          <p:cNvSpPr/>
          <p:nvPr/>
        </p:nvSpPr>
        <p:spPr>
          <a:xfrm>
            <a:off x="8339328" y="2286000"/>
            <a:ext cx="2999232" cy="347472"/>
          </a:xfrm>
          <a:prstGeom prst="rect">
            <a:avLst/>
          </a:prstGeom>
          <a:noFill/>
        </p:spPr>
        <p:txBody>
          <a:bodyPr wrap="square" lIns="0" tIns="0" rIns="0" bIns="0" rtlCol="0" anchor="ctr">
            <a:normAutofit/>
          </a:bodyPr>
          <a:lstStyle/>
          <a:p>
            <a:pPr marL="0" indent="0">
              <a:buNone/>
            </a:pPr>
            <a:r>
              <a:rPr lang="en-US" sz="1700" b="1" dirty="0">
                <a:solidFill>
                  <a:srgbClr val="F4F9FF"/>
                </a:solidFill>
                <a:latin typeface="Aptos" pitchFamily="34" charset="0"/>
                <a:ea typeface="Aptos" pitchFamily="34" charset="-122"/>
                <a:cs typeface="Aptos" pitchFamily="34" charset="-120"/>
              </a:rPr>
              <a:t>KEY RECOVERY</a:t>
            </a:r>
            <a:endParaRPr lang="en-US" sz="1700" dirty="0"/>
          </a:p>
        </p:txBody>
      </p:sp>
      <p:sp>
        <p:nvSpPr>
          <p:cNvPr id="22" name="Text 20"/>
          <p:cNvSpPr/>
          <p:nvPr/>
        </p:nvSpPr>
        <p:spPr>
          <a:xfrm>
            <a:off x="8339328" y="2679192"/>
            <a:ext cx="2971800" cy="877824"/>
          </a:xfrm>
          <a:prstGeom prst="rect">
            <a:avLst/>
          </a:prstGeom>
          <a:noFill/>
        </p:spPr>
        <p:txBody>
          <a:bodyPr wrap="square" lIns="0" tIns="0" rIns="0" bIns="0" rtlCol="0" anchor="t">
            <a:normAutofit/>
          </a:bodyPr>
          <a:lstStyle/>
          <a:p>
            <a:pPr marL="0" indent="0">
              <a:buNone/>
            </a:pPr>
            <a:r>
              <a:rPr lang="en-US" sz="1700" dirty="0">
                <a:solidFill>
                  <a:srgbClr val="AAC1D7"/>
                </a:solidFill>
                <a:latin typeface="Aptos" pitchFamily="34" charset="0"/>
                <a:ea typeface="Aptos" pitchFamily="34" charset="-122"/>
                <a:cs typeface="Aptos" pitchFamily="34" charset="-120"/>
              </a:rPr>
              <a:t>k₁ = 101 and k₂ = 011</a:t>
            </a:r>
            <a:endParaRPr lang="en-US" sz="1700" dirty="0"/>
          </a:p>
        </p:txBody>
      </p:sp>
      <p:sp>
        <p:nvSpPr>
          <p:cNvPr id="23" name="Shape 21"/>
          <p:cNvSpPr/>
          <p:nvPr/>
        </p:nvSpPr>
        <p:spPr>
          <a:xfrm>
            <a:off x="530352" y="3895344"/>
            <a:ext cx="11091672" cy="941832"/>
          </a:xfrm>
          <a:prstGeom prst="roundRect">
            <a:avLst>
              <a:gd name="adj" fmla="val 17476"/>
            </a:avLst>
          </a:prstGeom>
          <a:solidFill>
            <a:srgbClr val="152B47"/>
          </a:solidFill>
          <a:ln w="8890">
            <a:solidFill>
              <a:srgbClr val="243B56"/>
            </a:solidFill>
            <a:prstDash val="solid"/>
          </a:ln>
        </p:spPr>
      </p:sp>
      <p:sp>
        <p:nvSpPr>
          <p:cNvPr id="24" name="Text 22"/>
          <p:cNvSpPr/>
          <p:nvPr/>
        </p:nvSpPr>
        <p:spPr>
          <a:xfrm>
            <a:off x="777240" y="4142232"/>
            <a:ext cx="10561320" cy="420624"/>
          </a:xfrm>
          <a:prstGeom prst="rect">
            <a:avLst/>
          </a:prstGeom>
          <a:noFill/>
        </p:spPr>
        <p:txBody>
          <a:bodyPr wrap="square" lIns="0" tIns="0" rIns="0" bIns="0" rtlCol="0" anchor="ctr">
            <a:normAutofit/>
          </a:bodyPr>
          <a:lstStyle/>
          <a:p>
            <a:pPr marL="0" indent="0" algn="ctr">
              <a:buNone/>
            </a:pPr>
            <a:r>
              <a:rPr lang="en-US" sz="2600" b="1" dirty="0">
                <a:solidFill>
                  <a:srgbClr val="21D6C4"/>
                </a:solidFill>
                <a:latin typeface="Aptos" pitchFamily="34" charset="0"/>
                <a:ea typeface="Aptos" pitchFamily="34" charset="-122"/>
                <a:cs typeface="Aptos" pitchFamily="34" charset="-120"/>
              </a:rPr>
              <a:t>THEORY + SIMULATION + EXPLANATION</a:t>
            </a:r>
            <a:endParaRPr lang="en-US" sz="2600" dirty="0"/>
          </a:p>
        </p:txBody>
      </p:sp>
      <p:sp>
        <p:nvSpPr>
          <p:cNvPr id="25" name="Text 23"/>
          <p:cNvSpPr/>
          <p:nvPr/>
        </p:nvSpPr>
        <p:spPr>
          <a:xfrm>
            <a:off x="640080" y="5212080"/>
            <a:ext cx="10899648" cy="457200"/>
          </a:xfrm>
          <a:prstGeom prst="rect">
            <a:avLst/>
          </a:prstGeom>
          <a:noFill/>
        </p:spPr>
        <p:txBody>
          <a:bodyPr wrap="square" lIns="0" tIns="0" rIns="0" bIns="0" rtlCol="0" anchor="ctr">
            <a:normAutofit/>
          </a:bodyPr>
          <a:lstStyle/>
          <a:p>
            <a:pPr marL="0" indent="0" algn="ctr">
              <a:buNone/>
            </a:pPr>
            <a:r>
              <a:rPr lang="en-US" sz="1250" dirty="0">
                <a:solidFill>
                  <a:srgbClr val="AAC1D7"/>
                </a:solidFill>
                <a:latin typeface="Aptos" pitchFamily="34" charset="0"/>
                <a:ea typeface="Aptos" pitchFamily="34" charset="-122"/>
                <a:cs typeface="Aptos" pitchFamily="34" charset="-120"/>
              </a:rPr>
              <a:t>Core references: D. Simon, SIAM J. Comput. (1997)  •  IBM Quantum Learning, Simon’s Algorithm  •  Qiskit documentation</a:t>
            </a:r>
            <a:endParaRPr lang="en-US" sz="1250" dirty="0"/>
          </a:p>
        </p:txBody>
      </p:sp>
      <p:sp>
        <p:nvSpPr>
          <p:cNvPr id="26" name="Text 24"/>
          <p:cNvSpPr/>
          <p:nvPr/>
        </p:nvSpPr>
        <p:spPr>
          <a:xfrm>
            <a:off x="731520" y="5870448"/>
            <a:ext cx="10753344" cy="411480"/>
          </a:xfrm>
          <a:prstGeom prst="rect">
            <a:avLst/>
          </a:prstGeom>
          <a:noFill/>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THANK YOU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7012</Words>
  <Application>WPS Writer</Application>
  <PresentationFormat>On-screen Show (16:9)</PresentationFormat>
  <Paragraphs>559</Paragraphs>
  <Slides>13</Slides>
  <Notes>15</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Aptos</vt:lpstr>
      <vt:lpstr>Helvetica Neue</vt:lpstr>
      <vt:lpstr>Aptos</vt:lpstr>
      <vt:lpstr>Aptos</vt:lpstr>
      <vt:lpstr>Aptos Mono</vt:lpstr>
      <vt:lpstr>Aptos Mono</vt:lpstr>
      <vt:lpstr>Aptos Mono</vt:lpstr>
      <vt:lpstr>Microsoft YaHei</vt:lpstr>
      <vt:lpstr>汉仪旗黑</vt:lpstr>
      <vt:lpstr>Arial Unicode MS</vt:lpstr>
      <vt:lpstr>宋体-简</vt:lpstr>
      <vt:lpstr>Apple Symbols</vt:lpstr>
      <vt:lpstr>Euphemia UCAS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Academic Project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Toy Even–Mansour Key Recovery Using Simon’s Algorithm</dc:title>
  <dc:creator>Quantum Computing Project</dc:creator>
  <dc:subject>Condensed Even–Mansour Simon quantum cryptanalysis presentation</dc:subject>
  <cp:lastModifiedBy>Asher Duthie</cp:lastModifiedBy>
  <cp:revision>2</cp:revision>
  <dcterms:created xsi:type="dcterms:W3CDTF">2026-10-27T18:06:45Z</dcterms:created>
  <dcterms:modified xsi:type="dcterms:W3CDTF">2026-10-27T18:06:45Z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D7D6F4D4B5AF5D8B35E8E06AC7F551BA_43</vt:lpwstr>
  </property>
  <property fmtid="{D5CDD505-2E9C-101B-9397-08002B2CF9AE}" pid="3" name="KSOProductBuildVer">
    <vt:lpwstr>1033-6.14.0.8718</vt:lpwstr>
  </property>
</Properties>
</file>